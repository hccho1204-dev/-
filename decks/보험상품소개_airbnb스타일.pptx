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c61557f7-a58e-13a1-8cf6-fd8a0aed04f5}">
          <p14:sldIdLst>
            <p14:sldId id="256"/>
          </p14:sldIdLst>
        </p14:section>
        <p14:section name="상품 소개" id="{7e7c13e6-3736-9306-ac18-5c2baaab30d4}">
          <p14:sldIdLst>
            <p14:sldId id="257"/>
            <p14:sldId id="258"/>
          </p14:sldIdLst>
        </p14:section>
        <p14:section name="보장 내용" id="{51047abe-ff5a-01e5-60c3-4fc1b8a9715a}">
          <p14:sldIdLst>
            <p14:sldId id="259"/>
            <p14:sldId id="260"/>
            <p14:sldId id="261"/>
          </p14:sldIdLst>
        </p14:section>
        <p14:section name="보험료와 플랜" id="{2b03c380-4e20-2015-301d-4dfcbe1b0af8}">
          <p14:sldIdLst>
            <p14:sldId id="262"/>
            <p14:sldId id="263"/>
          </p14:sldIdLst>
        </p14:section>
        <p14:section name="가입 안내" id="{09c7a6ae-cf0f-1d3f-52bf-1af7be9f1608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A6A6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A6A6A"/>
                </a:solidFill>
                <a:latin typeface="+mn-lt"/>
              </a:rPr>
              <a:t>가입 연령별 월 보험료 (표준 플랜, 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남성</c:v>
                </c:pt>
              </c:strCache>
            </c:strRef>
          </c:tx>
          <c:spPr>
            <a:solidFill>
              <a:srgbClr val="2222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30세</c:v>
                  </c:pt>
                  <c:pt idx="1">
                    <c:v>40세</c:v>
                  </c:pt>
                  <c:pt idx="2">
                    <c:v>50세</c:v>
                  </c:pt>
                  <c:pt idx="3">
                    <c:v>60세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28400</c:v>
                </c:pt>
                <c:pt idx="1">
                  <c:v>42300</c:v>
                </c:pt>
                <c:pt idx="2">
                  <c:v>63900</c:v>
                </c:pt>
                <c:pt idx="3">
                  <c:v>91500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여성</c:v>
                </c:pt>
              </c:strCache>
            </c:strRef>
          </c:tx>
          <c:spPr>
            <a:solidFill>
              <a:srgbClr val="C1C1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30세</c:v>
                  </c:pt>
                  <c:pt idx="1">
                    <c:v>40세</c:v>
                  </c:pt>
                  <c:pt idx="2">
                    <c:v>50세</c:v>
                  </c:pt>
                  <c:pt idx="3">
                    <c:v>60세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24100</c:v>
                </c:pt>
                <c:pt idx="1">
                  <c:v>35600</c:v>
                </c:pt>
                <c:pt idx="2">
                  <c:v>51200</c:v>
                </c:pt>
                <c:pt idx="3">
                  <c:v>72800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6A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B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F3F3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'아프면 목돈, 안 아프면 안심' 한 문장으로 상품의 핵심을 먼저 전달합니다. 오른쪽 카드는 표준 플랜 가입 시 보장 요약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상품을 숫자 세 개로 요약합니다. 진단비 최대 1억 3,000만 원(든든 플랜), 100세 보장, 표준 플랜 월 4만 원대.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고객이 '내 이야기'로 느끼도록 네 가지 상황을 보여줍니다. 실손은 병원비, 진단비는 생활비라는 차이를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 플랜 기준 진단비입니다. 실손과 달리 영수증 없이 정액으로 지급된다는 점이 핵심입니다. 유사암은 일반암과 동시에 받는 금액이 아니므로 합계(9,000만 원)는 일반암·뇌·심장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치료 흐름 순서대로 보장을 설명합니다. 진단 → 수술 → 입원 → 항암 치료. 고객이 실제 치료 과정을 떠올리게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차별점: 비갱신형, 진단 시 납입면제, 간편심사 플랜. 고객이 가장 걱정하는 '보험료 인상'부터 짚으세요.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연령별 보험료 예시입니다. 40세와 50세 차이(월 21,600원)를 구체적으로 짚어 '지금' 가입할 이유를 보여주세요. 실제 보험료는 설계 시스템 기준으로 교체하세요.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플랜 비교. 대부분 표준 플랜을 선택합니다. 예산이 빠듯하면 실속, 가족력이 있으면 든든 플랜을 권하세요.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가입 과정이 간단하다는 점을 보여줍니다. 1단계 무료 보장 분석 신청이 다음 행동입니다.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다음 행동(무료 보장 분석 신청)을 하나만 제시합니다. 담당 설계사 이름·연락처·상담 시간을 실제 정보로 바꿔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6A6A6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2222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Shape 0"/>
          <p:cNvSpPr/>
          <p:nvPr/>
        </p:nvSpPr>
        <p:spPr>
          <a:xfrm>
            <a:off x="640080" y="6263640"/>
            <a:ext cx="10911535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4008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</a:rPr>
              <a:t>든든 3대질병 건강보험 · 상품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6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6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6A"/>
                </a:solidFill>
              </a:rPr>
              <a:t>건강보험 상품 안내</a:t>
            </a:r>
            <a:endParaRPr lang="en-US" sz="1200" dirty="0"/>
          </a:p>
        </p:txBody>
      </p:sp>
      <p:sp>
        <p:nvSpPr>
          <p:cNvPr id="3" name="메인 제목"/>
          <p:cNvSpPr txBox="1"/>
          <p:nvPr/>
        </p:nvSpPr>
        <p:spPr>
          <a:xfrm>
            <a:off x="640080" y="178308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아프면 목돈,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안 아프면 안심</a:t>
            </a:r>
            <a:endParaRPr lang="en-US" sz="4000" dirty="0"/>
          </a:p>
        </p:txBody>
      </p:sp>
      <p:sp>
        <p:nvSpPr>
          <p:cNvPr id="4" name="부제"/>
          <p:cNvSpPr txBox="1"/>
          <p:nvPr/>
        </p:nvSpPr>
        <p:spPr>
          <a:xfrm>
            <a:off x="640080" y="35204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F3F3F"/>
                </a:solidFill>
              </a:rPr>
              <a:t>암·뇌혈관·심장질환, 진단 확정 시 진단비를 한 번에 받는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F3F3F"/>
                </a:solidFill>
              </a:rPr>
              <a:t>든든 3대질병 건강보험을 소개합니다.</a:t>
            </a:r>
            <a:endParaRPr lang="en-US" sz="1600" dirty="0"/>
          </a:p>
        </p:txBody>
      </p:sp>
      <p:sp>
        <p:nvSpPr>
          <p:cNvPr id="5" name="검색창 모양 요약"/>
          <p:cNvSpPr/>
          <p:nvPr/>
        </p:nvSpPr>
        <p:spPr>
          <a:xfrm>
            <a:off x="640080" y="4572000"/>
            <a:ext cx="576072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4727448"/>
            <a:ext cx="149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보장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983480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3대 질병 진단비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45080" y="4727448"/>
            <a:ext cx="149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기간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545080" y="4983480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100세까지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07920" y="4773168"/>
            <a:ext cx="0" cy="42062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30040" y="4727448"/>
            <a:ext cx="149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보험료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30040" y="4983480"/>
            <a:ext cx="149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월 4만 원대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92880" y="4773168"/>
            <a:ext cx="0" cy="420624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검색 원"/>
          <p:cNvSpPr/>
          <p:nvPr/>
        </p:nvSpPr>
        <p:spPr>
          <a:xfrm>
            <a:off x="5687568" y="469087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0" descr="찾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4837176"/>
            <a:ext cx="292608" cy="292608"/>
          </a:xfrm>
          <a:prstGeom prst="rect">
            <a:avLst/>
          </a:prstGeom>
        </p:spPr>
      </p:pic>
      <p:sp>
        <p:nvSpPr>
          <p:cNvPr id="16" name="보장 상품 이미지 판"/>
          <p:cNvSpPr/>
          <p:nvPr/>
        </p:nvSpPr>
        <p:spPr>
          <a:xfrm>
            <a:off x="7223760" y="1051560"/>
            <a:ext cx="4325112" cy="3246120"/>
          </a:xfrm>
          <a:prstGeom prst="roundRect">
            <a:avLst>
              <a:gd name="adj" fmla="val 4507"/>
            </a:avLst>
          </a:prstGeom>
          <a:solidFill>
            <a:srgbClr val="F7F7F7"/>
          </a:solidFill>
          <a:ln/>
        </p:spPr>
      </p:sp>
      <p:pic>
        <p:nvPicPr>
          <p:cNvPr id="17" name="보장 상품 일러스트" descr="보장 상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631" y="1992935"/>
            <a:ext cx="1363370" cy="1363370"/>
          </a:xfrm>
          <a:prstGeom prst="rect">
            <a:avLst/>
          </a:prstGeom>
        </p:spPr>
      </p:pic>
      <p:sp>
        <p:nvSpPr>
          <p:cNvPr id="18" name="배지"/>
          <p:cNvSpPr/>
          <p:nvPr/>
        </p:nvSpPr>
        <p:spPr>
          <a:xfrm>
            <a:off x="7452360" y="128016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가장 많이 선택</a:t>
            </a:r>
            <a:endParaRPr lang="en-US" sz="1100" dirty="0"/>
          </a:p>
        </p:txBody>
      </p:sp>
      <p:sp>
        <p:nvSpPr>
          <p:cNvPr id="19" name="하트 원"/>
          <p:cNvSpPr/>
          <p:nvPr/>
        </p:nvSpPr>
        <p:spPr>
          <a:xfrm>
            <a:off x="10936224" y="1280160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pic>
        <p:nvPicPr>
          <p:cNvPr id="20" name="하트" descr="저장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13716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223760" y="448056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든든 3대질병 건강보험 · 표준 플랜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7223760" y="481888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암 5,000만 · 뇌혈관 2,000만 · 심장 2,000만 원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7223760" y="509320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20년납 100세 만기 · 40세 남성 예시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7223760" y="544068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월 42,300원</a:t>
            </a:r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</a:rPr>
              <a:t>  비갱신형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6A"/>
                </a:solidFill>
              </a:rPr>
              <a:t>한눈에 보기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숫자 세 개로 보는 든든 3대질병 건강보험</a:t>
            </a:r>
            <a:endParaRPr lang="en-US" sz="2800" dirty="0"/>
          </a:p>
        </p:txBody>
      </p:sp>
      <p:sp>
        <p:nvSpPr>
          <p:cNvPr id="4" name="요약 카드 1"/>
          <p:cNvSpPr/>
          <p:nvPr/>
        </p:nvSpPr>
        <p:spPr>
          <a:xfrm>
            <a:off x="640080" y="1920240"/>
            <a:ext cx="3454298" cy="356616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" name="3대 질병 진단비 최대 합계 원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6" name="3대 질병 진단비 최대 합계 아이콘" descr="3대 질병 진단비 최대 합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20040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1억 3,000만 원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02336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3대 질병 진단비 최대 합계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43484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A6A6A"/>
                </a:solidFill>
              </a:rPr>
              <a:t>든든 플랜 기준, 진단 확정 시 일시금으로 지급</a:t>
            </a:r>
            <a:endParaRPr lang="en-US" sz="1400" dirty="0"/>
          </a:p>
        </p:txBody>
      </p:sp>
      <p:sp>
        <p:nvSpPr>
          <p:cNvPr id="10" name="요약 카드 2"/>
          <p:cNvSpPr/>
          <p:nvPr/>
        </p:nvSpPr>
        <p:spPr>
          <a:xfrm>
            <a:off x="4368698" y="1920240"/>
            <a:ext cx="3454298" cy="356616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" name="보장 기간 원"/>
          <p:cNvSpPr/>
          <p:nvPr/>
        </p:nvSpPr>
        <p:spPr>
          <a:xfrm>
            <a:off x="4734458" y="2286000"/>
            <a:ext cx="640080" cy="6400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2" name="보장 기간 아이콘" descr="보장 기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879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34458" y="320040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100세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4734458" y="402336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보장 기간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734458" y="443484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A6A6A"/>
                </a:solidFill>
              </a:rPr>
              <a:t>20년만 내고 100세까지 같은 보장을 유지</a:t>
            </a:r>
            <a:endParaRPr lang="en-US" sz="1400" dirty="0"/>
          </a:p>
        </p:txBody>
      </p:sp>
      <p:sp>
        <p:nvSpPr>
          <p:cNvPr id="16" name="요약 카드 3"/>
          <p:cNvSpPr/>
          <p:nvPr/>
        </p:nvSpPr>
        <p:spPr>
          <a:xfrm>
            <a:off x="8097317" y="1920240"/>
            <a:ext cx="3454298" cy="356616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7" name="표준 플랜 보험료 원"/>
          <p:cNvSpPr/>
          <p:nvPr/>
        </p:nvSpPr>
        <p:spPr>
          <a:xfrm>
            <a:off x="8463077" y="2286000"/>
            <a:ext cx="640080" cy="6400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8" name="표준 플랜 보험료 아이콘" descr="표준 플랜 보험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498" y="245242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63077" y="320040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월 4만 원대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463077" y="402336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표준 플랜 보험료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463077" y="443484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A6A6A"/>
                </a:solidFill>
              </a:rPr>
              <a:t>40세 남성 기준, 가입 후 보험료가 오르지 않는 비갱신형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</a:rPr>
              <a:t>※ 보험료·보장 금액은 이해를 돕기 위한 예시입니다.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6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6A"/>
                </a:solidFill>
              </a:rPr>
              <a:t>가입 대상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이런 분께 꼭 필요합니다</a:t>
            </a:r>
            <a:endParaRPr lang="en-US" sz="2800" dirty="0"/>
          </a:p>
        </p:txBody>
      </p:sp>
      <p:sp>
        <p:nvSpPr>
          <p:cNvPr id="4" name="가족력이 있는 분 이미지 판"/>
          <p:cNvSpPr/>
          <p:nvPr/>
        </p:nvSpPr>
        <p:spPr>
          <a:xfrm>
            <a:off x="640080" y="1828800"/>
            <a:ext cx="2522144" cy="2240280"/>
          </a:xfrm>
          <a:prstGeom prst="roundRect">
            <a:avLst>
              <a:gd name="adj" fmla="val 6531"/>
            </a:avLst>
          </a:prstGeom>
          <a:solidFill>
            <a:srgbClr val="F7F7F7"/>
          </a:solidFill>
          <a:ln/>
        </p:spPr>
      </p:sp>
      <p:pic>
        <p:nvPicPr>
          <p:cNvPr id="5" name="가족력이 있는 분 일러스트" descr="가족력이 있는 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93" y="2478481"/>
            <a:ext cx="940918" cy="940918"/>
          </a:xfrm>
          <a:prstGeom prst="rect">
            <a:avLst/>
          </a:prstGeom>
        </p:spPr>
      </p:pic>
      <p:sp>
        <p:nvSpPr>
          <p:cNvPr id="6" name="가족력이 있는 분 하트 원"/>
          <p:cNvSpPr/>
          <p:nvPr/>
        </p:nvSpPr>
        <p:spPr>
          <a:xfrm>
            <a:off x="2613584" y="1993392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pic>
        <p:nvPicPr>
          <p:cNvPr id="7" name="가족력이 있는 분 하트" descr="저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24" y="2084832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4251960"/>
            <a:ext cx="252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가족력이 있는 분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4617720"/>
            <a:ext cx="252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A6A"/>
                </a:solidFill>
              </a:rPr>
              <a:t>부모님·형제가 암이나 심장질환을 겪은 경우</a:t>
            </a:r>
            <a:endParaRPr lang="en-US" sz="1300" dirty="0"/>
          </a:p>
        </p:txBody>
      </p:sp>
      <p:sp>
        <p:nvSpPr>
          <p:cNvPr id="10" name="가정의 가장인 분 이미지 판"/>
          <p:cNvSpPr/>
          <p:nvPr/>
        </p:nvSpPr>
        <p:spPr>
          <a:xfrm>
            <a:off x="3436544" y="1828800"/>
            <a:ext cx="2522144" cy="2240280"/>
          </a:xfrm>
          <a:prstGeom prst="roundRect">
            <a:avLst>
              <a:gd name="adj" fmla="val 6531"/>
            </a:avLst>
          </a:prstGeom>
          <a:solidFill>
            <a:srgbClr val="F7F7F7"/>
          </a:solidFill>
          <a:ln/>
        </p:spPr>
      </p:sp>
      <p:pic>
        <p:nvPicPr>
          <p:cNvPr id="11" name="가정의 가장인 분 일러스트" descr="가정의 가장인 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157" y="2478481"/>
            <a:ext cx="940918" cy="940918"/>
          </a:xfrm>
          <a:prstGeom prst="rect">
            <a:avLst/>
          </a:prstGeom>
        </p:spPr>
      </p:pic>
      <p:sp>
        <p:nvSpPr>
          <p:cNvPr id="12" name="가정의 가장인 분 하트 원"/>
          <p:cNvSpPr/>
          <p:nvPr/>
        </p:nvSpPr>
        <p:spPr>
          <a:xfrm>
            <a:off x="5410048" y="1993392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pic>
        <p:nvPicPr>
          <p:cNvPr id="13" name="가정의 가장인 분 하트" descr="저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488" y="208483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436544" y="4251960"/>
            <a:ext cx="252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가정의 가장인 분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3436544" y="4617720"/>
            <a:ext cx="252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A6A"/>
                </a:solidFill>
              </a:rPr>
              <a:t>치료 기간 소득이 끊겨도 생활비가 필요한 경우</a:t>
            </a:r>
            <a:endParaRPr lang="en-US" sz="1300" dirty="0"/>
          </a:p>
        </p:txBody>
      </p:sp>
      <p:sp>
        <p:nvSpPr>
          <p:cNvPr id="16" name="실손보험만 있는 분 이미지 판"/>
          <p:cNvSpPr/>
          <p:nvPr/>
        </p:nvSpPr>
        <p:spPr>
          <a:xfrm>
            <a:off x="6233008" y="1828800"/>
            <a:ext cx="2522144" cy="2240280"/>
          </a:xfrm>
          <a:prstGeom prst="roundRect">
            <a:avLst>
              <a:gd name="adj" fmla="val 6531"/>
            </a:avLst>
          </a:prstGeom>
          <a:solidFill>
            <a:srgbClr val="F7F7F7"/>
          </a:solidFill>
          <a:ln/>
        </p:spPr>
      </p:sp>
      <p:pic>
        <p:nvPicPr>
          <p:cNvPr id="17" name="실손보험만 있는 분 일러스트" descr="실손보험만 있는 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621" y="2478481"/>
            <a:ext cx="940918" cy="940918"/>
          </a:xfrm>
          <a:prstGeom prst="rect">
            <a:avLst/>
          </a:prstGeom>
        </p:spPr>
      </p:pic>
      <p:sp>
        <p:nvSpPr>
          <p:cNvPr id="18" name="실손보험만 있는 분 하트 원"/>
          <p:cNvSpPr/>
          <p:nvPr/>
        </p:nvSpPr>
        <p:spPr>
          <a:xfrm>
            <a:off x="8206511" y="1993392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pic>
        <p:nvPicPr>
          <p:cNvPr id="19" name="실손보험만 있는 분 하트" descr="저장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951" y="2084832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233008" y="4251960"/>
            <a:ext cx="252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실손보험만 있는 분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6233008" y="4617720"/>
            <a:ext cx="252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A6A"/>
                </a:solidFill>
              </a:rPr>
              <a:t>병원비 외 생활비·간병비 준비가 없는 경우</a:t>
            </a:r>
            <a:endParaRPr lang="en-US" sz="1300" dirty="0"/>
          </a:p>
        </p:txBody>
      </p:sp>
      <p:sp>
        <p:nvSpPr>
          <p:cNvPr id="22" name="자영업자·프리랜서 이미지 판"/>
          <p:cNvSpPr/>
          <p:nvPr/>
        </p:nvSpPr>
        <p:spPr>
          <a:xfrm>
            <a:off x="9029471" y="1828800"/>
            <a:ext cx="2522144" cy="2240280"/>
          </a:xfrm>
          <a:prstGeom prst="roundRect">
            <a:avLst>
              <a:gd name="adj" fmla="val 6531"/>
            </a:avLst>
          </a:prstGeom>
          <a:solidFill>
            <a:srgbClr val="F7F7F7"/>
          </a:solidFill>
          <a:ln/>
        </p:spPr>
      </p:sp>
      <p:pic>
        <p:nvPicPr>
          <p:cNvPr id="23" name="자영업자·프리랜서 일러스트" descr="자영업자·프리랜서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0085" y="2478481"/>
            <a:ext cx="940918" cy="940918"/>
          </a:xfrm>
          <a:prstGeom prst="rect">
            <a:avLst/>
          </a:prstGeom>
        </p:spPr>
      </p:pic>
      <p:sp>
        <p:nvSpPr>
          <p:cNvPr id="24" name="자영업자·프리랜서 하트 원"/>
          <p:cNvSpPr/>
          <p:nvPr/>
        </p:nvSpPr>
        <p:spPr>
          <a:xfrm>
            <a:off x="11002975" y="1993392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pic>
        <p:nvPicPr>
          <p:cNvPr id="25" name="자영업자·프리랜서 하트" descr="저장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208483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029471" y="4251960"/>
            <a:ext cx="252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자영업자·프리랜서</a:t>
            </a:r>
            <a:endParaRPr lang="en-US" sz="1600" dirty="0"/>
          </a:p>
        </p:txBody>
      </p:sp>
      <p:sp>
        <p:nvSpPr>
          <p:cNvPr id="27" name="Text 17"/>
          <p:cNvSpPr txBox="1"/>
          <p:nvPr/>
        </p:nvSpPr>
        <p:spPr>
          <a:xfrm>
            <a:off x="9029471" y="4617720"/>
            <a:ext cx="252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A6A"/>
                </a:solidFill>
              </a:rPr>
              <a:t>쉬는 날이 곧 수입 공백이 되는 경우</a:t>
            </a:r>
            <a:endParaRPr lang="en-US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</a:rPr>
              <a:t>실손보험이 병원비를 돌려준다면, 진단비는 치료하는 동안의 생활비가 됩니다.</a:t>
            </a:r>
            <a:endParaRPr lang="en-US" sz="1600" dirty="0"/>
          </a:p>
        </p:txBody>
      </p:sp>
      <p:sp>
        <p:nvSpPr>
          <p:cNvPr id="29" name="버튼"/>
          <p:cNvSpPr/>
          <p:nvPr/>
        </p:nvSpPr>
        <p:spPr>
          <a:xfrm>
            <a:off x="9539935" y="5431536"/>
            <a:ext cx="2011680" cy="475488"/>
          </a:xfrm>
          <a:prstGeom prst="roundRect">
            <a:avLst>
              <a:gd name="adj" fmla="val 17308"/>
            </a:avLst>
          </a:prstGeom>
          <a:solidFill>
            <a:schemeClr val="accent1"/>
          </a:solidFill>
          <a:ln w="12700">
            <a:solidFill>
              <a:srgbClr val="FF38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내 보장 점검하기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6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6A"/>
                </a:solidFill>
              </a:rPr>
              <a:t>핵심 보장 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진단 확정 즉시, 진단비를 한 번에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7665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일반암 진단비 원"/>
          <p:cNvSpPr/>
          <p:nvPr/>
        </p:nvSpPr>
        <p:spPr>
          <a:xfrm>
            <a:off x="640080" y="2057400"/>
            <a:ext cx="530352" cy="530352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6" name="일반암 진단비 아이콘" descr="일반암 진단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2195292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일반암 진단비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암으로 최초 진단 확정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20574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5,000만 원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2770632"/>
            <a:ext cx="67665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유사암 진단비 원"/>
          <p:cNvSpPr/>
          <p:nvPr/>
        </p:nvSpPr>
        <p:spPr>
          <a:xfrm>
            <a:off x="640080" y="2953512"/>
            <a:ext cx="530352" cy="530352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2" name="유사암 진단비 아이콘" descr="유사암 진단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2" y="3091404"/>
            <a:ext cx="254569" cy="25456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유사암 진단비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갑상선암·제자리암 등 진단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577840" y="29535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1,000만 원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40080" y="3666744"/>
            <a:ext cx="67665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뇌혈관질환 진단비 원"/>
          <p:cNvSpPr/>
          <p:nvPr/>
        </p:nvSpPr>
        <p:spPr>
          <a:xfrm>
            <a:off x="640080" y="3849624"/>
            <a:ext cx="530352" cy="530352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8" name="뇌혈관질환 진단비 아이콘" descr="뇌혈관질환 진단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3987516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7160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뇌혈관질환 진단비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371600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뇌졸중 등 뇌혈관질환 진단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577840" y="38496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2,000만 원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40080" y="4562856"/>
            <a:ext cx="67665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" name="허혈성심장질환 진단비 원"/>
          <p:cNvSpPr/>
          <p:nvPr/>
        </p:nvSpPr>
        <p:spPr>
          <a:xfrm>
            <a:off x="640080" y="4745736"/>
            <a:ext cx="530352" cy="530352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24" name="허혈성심장질환 진단비 아이콘" descr="허혈성심장질환 진단비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4883628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71600" y="4718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허혈성심장질환 진단비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371600" y="5038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급성심근경색 등 진단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577840" y="4745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2,000만 원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640080" y="5458968"/>
            <a:ext cx="67665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40080" y="5596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</a:rPr>
              <a:t>표준 플랜 기준</a:t>
            </a:r>
            <a:endParaRPr lang="en-US" sz="1100" dirty="0"/>
          </a:p>
        </p:txBody>
      </p:sp>
      <p:sp>
        <p:nvSpPr>
          <p:cNvPr id="30" name="진단비 요약 카드"/>
          <p:cNvSpPr/>
          <p:nvPr/>
        </p:nvSpPr>
        <p:spPr>
          <a:xfrm>
            <a:off x="7909560" y="1874520"/>
            <a:ext cx="3642055" cy="3886200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8229600" y="2194560"/>
            <a:ext cx="3001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</a:rPr>
              <a:t>9,000만 원</a:t>
            </a:r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</a:rPr>
              <a:t>  합계</a:t>
            </a:r>
            <a:endParaRPr lang="en-US" sz="2600" dirty="0"/>
          </a:p>
        </p:txBody>
      </p:sp>
      <p:sp>
        <p:nvSpPr>
          <p:cNvPr id="32" name="Text 26"/>
          <p:cNvSpPr txBox="1"/>
          <p:nvPr/>
        </p:nvSpPr>
        <p:spPr>
          <a:xfrm>
            <a:off x="8229600" y="2926080"/>
            <a:ext cx="3001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어디에 써도 되는 돈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8229600" y="3291840"/>
            <a:ext cx="30019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F3F3F"/>
                </a:solidFill>
              </a:rPr>
              <a:t>진단비는 영수증 없이 일시금으로 지급됩니다. 치료비, 생활비, 대출 이자, 간병비까지 필요한 곳에 바로 쓸 수 있습니다.</a:t>
            </a:r>
            <a:endParaRPr lang="en-US" sz="1400" dirty="0"/>
          </a:p>
        </p:txBody>
      </p:sp>
      <p:sp>
        <p:nvSpPr>
          <p:cNvPr id="34" name="버튼"/>
          <p:cNvSpPr/>
          <p:nvPr/>
        </p:nvSpPr>
        <p:spPr>
          <a:xfrm>
            <a:off x="8229600" y="4965192"/>
            <a:ext cx="3001975" cy="475488"/>
          </a:xfrm>
          <a:prstGeom prst="roundRect">
            <a:avLst>
              <a:gd name="adj" fmla="val 17308"/>
            </a:avLst>
          </a:prstGeom>
          <a:solidFill>
            <a:schemeClr val="accent1"/>
          </a:solidFill>
          <a:ln w="12700">
            <a:solidFill>
              <a:srgbClr val="FF38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보장 분석 신청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6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6A"/>
                </a:solidFill>
              </a:rPr>
              <a:t>핵심 보장 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진단부터 치료까지, 단계마다 보장합니다</a:t>
            </a:r>
            <a:endParaRPr lang="en-US" sz="2800" dirty="0"/>
          </a:p>
        </p:txBody>
      </p:sp>
      <p:sp>
        <p:nvSpPr>
          <p:cNvPr id="4" name="진단 이미지 판"/>
          <p:cNvSpPr/>
          <p:nvPr/>
        </p:nvSpPr>
        <p:spPr>
          <a:xfrm>
            <a:off x="640080" y="1828800"/>
            <a:ext cx="2522144" cy="201168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/>
        </p:spPr>
      </p:sp>
      <p:pic>
        <p:nvPicPr>
          <p:cNvPr id="5" name="진단 일러스트" descr="진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699" y="2412187"/>
            <a:ext cx="844906" cy="844906"/>
          </a:xfrm>
          <a:prstGeom prst="rect">
            <a:avLst/>
          </a:prstGeom>
        </p:spPr>
      </p:pic>
      <p:sp>
        <p:nvSpPr>
          <p:cNvPr id="6" name="진단 단계 배지"/>
          <p:cNvSpPr/>
          <p:nvPr/>
        </p:nvSpPr>
        <p:spPr>
          <a:xfrm>
            <a:off x="822960" y="2011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1단계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23360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진단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43484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진단비 일시금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754880"/>
            <a:ext cx="252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최대 5,000만 원</a:t>
            </a:r>
            <a:endParaRPr lang="en-US" sz="1600" dirty="0"/>
          </a:p>
        </p:txBody>
      </p:sp>
      <p:sp>
        <p:nvSpPr>
          <p:cNvPr id="10" name="수술 이미지 판"/>
          <p:cNvSpPr/>
          <p:nvPr/>
        </p:nvSpPr>
        <p:spPr>
          <a:xfrm>
            <a:off x="3436544" y="1828800"/>
            <a:ext cx="2522144" cy="201168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/>
        </p:spPr>
      </p:sp>
      <p:pic>
        <p:nvPicPr>
          <p:cNvPr id="11" name="수술 일러스트" descr="수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163" y="2412187"/>
            <a:ext cx="844906" cy="844906"/>
          </a:xfrm>
          <a:prstGeom prst="rect">
            <a:avLst/>
          </a:prstGeom>
        </p:spPr>
      </p:pic>
      <p:sp>
        <p:nvSpPr>
          <p:cNvPr id="12" name="수술 단계 배지"/>
          <p:cNvSpPr/>
          <p:nvPr/>
        </p:nvSpPr>
        <p:spPr>
          <a:xfrm>
            <a:off x="3619424" y="2011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2단계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436544" y="4023360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수술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436544" y="443484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질병 수술비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36544" y="4754880"/>
            <a:ext cx="252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회당 300만 원</a:t>
            </a:r>
            <a:endParaRPr lang="en-US" sz="1600" dirty="0"/>
          </a:p>
        </p:txBody>
      </p:sp>
      <p:sp>
        <p:nvSpPr>
          <p:cNvPr id="16" name="입원 이미지 판"/>
          <p:cNvSpPr/>
          <p:nvPr/>
        </p:nvSpPr>
        <p:spPr>
          <a:xfrm>
            <a:off x="6233008" y="1828800"/>
            <a:ext cx="2522144" cy="201168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/>
        </p:spPr>
      </p:sp>
      <p:pic>
        <p:nvPicPr>
          <p:cNvPr id="17" name="입원 일러스트" descr="입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627" y="2412187"/>
            <a:ext cx="844906" cy="844906"/>
          </a:xfrm>
          <a:prstGeom prst="rect">
            <a:avLst/>
          </a:prstGeom>
        </p:spPr>
      </p:pic>
      <p:sp>
        <p:nvSpPr>
          <p:cNvPr id="18" name="입원 단계 배지"/>
          <p:cNvSpPr/>
          <p:nvPr/>
        </p:nvSpPr>
        <p:spPr>
          <a:xfrm>
            <a:off x="6415888" y="2011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3단계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233008" y="4023360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입원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233008" y="443484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질병 입원일당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33008" y="4754880"/>
            <a:ext cx="252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1일 3만 원</a:t>
            </a:r>
            <a:endParaRPr lang="en-US" sz="1600" dirty="0"/>
          </a:p>
        </p:txBody>
      </p:sp>
      <p:sp>
        <p:nvSpPr>
          <p:cNvPr id="22" name="항암 치료 이미지 판"/>
          <p:cNvSpPr/>
          <p:nvPr/>
        </p:nvSpPr>
        <p:spPr>
          <a:xfrm>
            <a:off x="9029471" y="1828800"/>
            <a:ext cx="2522144" cy="201168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/>
        </p:spPr>
      </p:sp>
      <p:pic>
        <p:nvPicPr>
          <p:cNvPr id="23" name="항암 치료 일러스트" descr="항암 치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091" y="2412187"/>
            <a:ext cx="844906" cy="844906"/>
          </a:xfrm>
          <a:prstGeom prst="rect">
            <a:avLst/>
          </a:prstGeom>
        </p:spPr>
      </p:pic>
      <p:sp>
        <p:nvSpPr>
          <p:cNvPr id="24" name="항암 치료 단계 배지"/>
          <p:cNvSpPr/>
          <p:nvPr/>
        </p:nvSpPr>
        <p:spPr>
          <a:xfrm>
            <a:off x="9212351" y="2011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4단계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9029471" y="4023360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항암 치료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029471" y="443484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항암치료비 (연 1회)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9029471" y="4754880"/>
            <a:ext cx="252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연 500만 원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</a:rPr>
              <a:t>※ 표준 플랜 기준 예시. 보장 한도와 지급 횟수는 약관에 따릅니다.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6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6A"/>
                </a:solidFill>
              </a:rPr>
              <a:t>차별점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다른 상품과 무엇이 다를까요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22222"/>
                </a:solidFill>
              </a:rPr>
              <a:t>3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가지 약속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A6A6A"/>
                </a:solidFill>
              </a:rPr>
              <a:t>가입 전에 고객이 가장 많이 묻는 질문에 대한 답입니다.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874520"/>
            <a:ext cx="707105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보험료가 오르지 않습니다 원"/>
          <p:cNvSpPr/>
          <p:nvPr/>
        </p:nvSpPr>
        <p:spPr>
          <a:xfrm>
            <a:off x="4480560" y="2148840"/>
            <a:ext cx="640080" cy="6400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9" name="보험료가 오르지 않습니다 아이콘" descr="보험료가 오르지 않습니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6981" y="231526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94960" y="2103120"/>
            <a:ext cx="6156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보험료가 오르지 않습니다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496312"/>
            <a:ext cx="6156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비갱신형 구조라 가입 때 정해진 보험료가 납입 기간 끝까지 그대로입니다.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80560" y="3154680"/>
            <a:ext cx="707105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진단받으면 이후 보험료 면제 원"/>
          <p:cNvSpPr/>
          <p:nvPr/>
        </p:nvSpPr>
        <p:spPr>
          <a:xfrm>
            <a:off x="4480560" y="3429000"/>
            <a:ext cx="640080" cy="6400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4" name="진단받으면 이후 보험료 면제 아이콘" descr="진단받으면 이후 보험료 면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35954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94960" y="3383280"/>
            <a:ext cx="6156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진단받으면 이후 보험료 면제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394960" y="3776472"/>
            <a:ext cx="6156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3대 질병 진단 시 남은 보험료를 내지 않아도 보장은 그대로 유지됩니다.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480560" y="4434840"/>
            <a:ext cx="707105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" name="건강 상태에 맞춰 가입 원"/>
          <p:cNvSpPr/>
          <p:nvPr/>
        </p:nvSpPr>
        <p:spPr>
          <a:xfrm>
            <a:off x="4480560" y="4709160"/>
            <a:ext cx="640080" cy="6400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9" name="건강 상태에 맞춰 가입 아이콘" descr="건강 상태에 맞춰 가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81" y="487558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94960" y="4663440"/>
            <a:ext cx="6156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건강 상태에 맞춰 가입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394960" y="5056632"/>
            <a:ext cx="6156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</a:rPr>
              <a:t>병력이 있어도 간편심사 플랜으로 가입 여부를 확인할 수 있습니다.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480560" y="5715000"/>
            <a:ext cx="707105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6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6A"/>
                </a:solidFill>
              </a:rPr>
              <a:t>보험료 예시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일찍 가입할수록 보험료가 낮습니다</a:t>
            </a:r>
            <a:endParaRPr lang="en-US" sz="2800" dirty="0"/>
          </a:p>
        </p:txBody>
      </p:sp>
      <p:sp>
        <p:nvSpPr>
          <p:cNvPr id="4" name="차트 카드"/>
          <p:cNvSpPr/>
          <p:nvPr/>
        </p:nvSpPr>
        <p:spPr>
          <a:xfrm>
            <a:off x="640080" y="1828800"/>
            <a:ext cx="73152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graphicFrame>
        <p:nvGraphicFramePr>
          <p:cNvPr id="5" name="보험료 차트" descr=""/>
          <p:cNvGraphicFramePr/>
          <p:nvPr/>
        </p:nvGraphicFramePr>
        <p:xfrm>
          <a:off x="914400" y="2057400"/>
          <a:ext cx="67665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21040" y="196596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40세 남성 기준</a:t>
            </a:r>
            <a:endParaRPr lang="en-US" sz="1300" dirty="0"/>
          </a:p>
        </p:txBody>
      </p:sp>
      <p:sp>
        <p:nvSpPr>
          <p:cNvPr id="7" name="대표 보험료"/>
          <p:cNvSpPr txBox="1"/>
          <p:nvPr/>
        </p:nvSpPr>
        <p:spPr>
          <a:xfrm>
            <a:off x="8321040" y="2286000"/>
            <a:ext cx="3230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2222"/>
                </a:solidFill>
              </a:rPr>
              <a:t>42,300</a:t>
            </a:r>
            <a:pPr indent="0" marL="0">
              <a:buNone/>
            </a:pPr>
            <a:r>
              <a:rPr lang="en-US" sz="1600" dirty="0">
                <a:solidFill>
                  <a:srgbClr val="6A6A6A"/>
                </a:solidFill>
              </a:rPr>
              <a:t> 원/월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337560"/>
            <a:ext cx="3230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3F3F"/>
                </a:solidFill>
              </a:rPr>
              <a:t>50세에 가입하면 같은 보장에 매달 2만 원 넘게 더 냅니다. 비갱신형이라 가입할 때 정해진 보험료가 끝까지 유지됩니다.</a:t>
            </a:r>
            <a:endParaRPr lang="en-US" sz="1400" dirty="0"/>
          </a:p>
        </p:txBody>
      </p:sp>
      <p:sp>
        <p:nvSpPr>
          <p:cNvPr id="9" name="버튼"/>
          <p:cNvSpPr/>
          <p:nvPr/>
        </p:nvSpPr>
        <p:spPr>
          <a:xfrm>
            <a:off x="8321040" y="5468112"/>
            <a:ext cx="3230575" cy="475488"/>
          </a:xfrm>
          <a:prstGeom prst="roundRect">
            <a:avLst>
              <a:gd name="adj" fmla="val 17308"/>
            </a:avLst>
          </a:prstGeom>
          <a:solidFill>
            <a:schemeClr val="accent1"/>
          </a:solidFill>
          <a:ln w="12700">
            <a:solidFill>
              <a:srgbClr val="FF38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내 보험료 계산하기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6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6A"/>
                </a:solidFill>
              </a:rPr>
              <a:t>플랜 비교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필요한 만큼 고르는 세 가지 플랜</a:t>
            </a:r>
            <a:endParaRPr lang="en-US" sz="2800" dirty="0"/>
          </a:p>
        </p:txBody>
      </p:sp>
      <p:sp>
        <p:nvSpPr>
          <p:cNvPr id="4" name="실속 플랜 이미지 판"/>
          <p:cNvSpPr/>
          <p:nvPr/>
        </p:nvSpPr>
        <p:spPr>
          <a:xfrm>
            <a:off x="640080" y="1691640"/>
            <a:ext cx="3454298" cy="1508760"/>
          </a:xfrm>
          <a:prstGeom prst="roundRect">
            <a:avLst>
              <a:gd name="adj" fmla="val 9697"/>
            </a:avLst>
          </a:prstGeom>
          <a:solidFill>
            <a:srgbClr val="F7F7F7"/>
          </a:solidFill>
          <a:ln/>
        </p:spPr>
      </p:sp>
      <p:pic>
        <p:nvPicPr>
          <p:cNvPr id="5" name="실속 플랜 일러스트" descr="실속 플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390" y="2129180"/>
            <a:ext cx="633679" cy="633679"/>
          </a:xfrm>
          <a:prstGeom prst="rect">
            <a:avLst/>
          </a:prstGeom>
        </p:spPr>
      </p:pic>
      <p:sp>
        <p:nvSpPr>
          <p:cNvPr id="6" name="실속 플랜 하트 원"/>
          <p:cNvSpPr/>
          <p:nvPr/>
        </p:nvSpPr>
        <p:spPr>
          <a:xfrm>
            <a:off x="3527450" y="1874520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pic>
        <p:nvPicPr>
          <p:cNvPr id="7" name="실속 플랜 하트" descr="저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890" y="1965960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3337560"/>
            <a:ext cx="17271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실속 플랜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2367229" y="3337560"/>
            <a:ext cx="17271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월 29,800원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79476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A6A6A"/>
                </a:solidFill>
              </a:rPr>
              <a:t>암 진단비 3,000만 원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A6A6A"/>
                </a:solidFill>
              </a:rPr>
              <a:t>뇌혈관·심장 각 1,000만 원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A6A6A"/>
                </a:solidFill>
              </a:rPr>
              <a:t>진단 시 보험료 납입면제</a:t>
            </a:r>
            <a:endParaRPr lang="en-US" sz="1300" dirty="0"/>
          </a:p>
        </p:txBody>
      </p:sp>
      <p:sp>
        <p:nvSpPr>
          <p:cNvPr id="11" name="실속 플랜 버튼"/>
          <p:cNvSpPr/>
          <p:nvPr/>
        </p:nvSpPr>
        <p:spPr>
          <a:xfrm>
            <a:off x="640080" y="5029200"/>
            <a:ext cx="3454298" cy="475488"/>
          </a:xfrm>
          <a:prstGeom prst="roundRect">
            <a:avLst>
              <a:gd name="adj" fmla="val 17308"/>
            </a:avLst>
          </a:prstGeom>
          <a:solidFill>
            <a:schemeClr val="bg1"/>
          </a:solidFill>
          <a:ln w="12700">
            <a:solidFill>
              <a:srgbClr val="2222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상담 신청</a:t>
            </a:r>
            <a:endParaRPr lang="en-US" sz="1400" dirty="0"/>
          </a:p>
        </p:txBody>
      </p:sp>
      <p:sp>
        <p:nvSpPr>
          <p:cNvPr id="12" name="표준 플랜 이미지 판"/>
          <p:cNvSpPr/>
          <p:nvPr/>
        </p:nvSpPr>
        <p:spPr>
          <a:xfrm>
            <a:off x="4368698" y="1691640"/>
            <a:ext cx="3454298" cy="1508760"/>
          </a:xfrm>
          <a:prstGeom prst="roundRect">
            <a:avLst>
              <a:gd name="adj" fmla="val 9697"/>
            </a:avLst>
          </a:prstGeom>
          <a:solidFill>
            <a:srgbClr val="F7F7F7"/>
          </a:solidFill>
          <a:ln/>
        </p:spPr>
      </p:sp>
      <p:pic>
        <p:nvPicPr>
          <p:cNvPr id="13" name="표준 플랜 일러스트" descr="표준 플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129180"/>
            <a:ext cx="633679" cy="633679"/>
          </a:xfrm>
          <a:prstGeom prst="rect">
            <a:avLst/>
          </a:prstGeom>
        </p:spPr>
      </p:pic>
      <p:sp>
        <p:nvSpPr>
          <p:cNvPr id="14" name="배지"/>
          <p:cNvSpPr/>
          <p:nvPr/>
        </p:nvSpPr>
        <p:spPr>
          <a:xfrm>
            <a:off x="4551578" y="187452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가장 많이 선택</a:t>
            </a:r>
            <a:endParaRPr lang="en-US" sz="1100" dirty="0"/>
          </a:p>
        </p:txBody>
      </p:sp>
      <p:sp>
        <p:nvSpPr>
          <p:cNvPr id="15" name="표준 플랜 하트 원"/>
          <p:cNvSpPr/>
          <p:nvPr/>
        </p:nvSpPr>
        <p:spPr>
          <a:xfrm>
            <a:off x="7256069" y="1874520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pic>
        <p:nvPicPr>
          <p:cNvPr id="16" name="표준 플랜 하트" descr="저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509" y="196596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368698" y="3337560"/>
            <a:ext cx="17271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표준 플랜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095848" y="3337560"/>
            <a:ext cx="17271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월 42,300원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4368698" y="379476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A6A6A"/>
                </a:solidFill>
              </a:rPr>
              <a:t>암 진단비 5,000만 원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A6A6A"/>
                </a:solidFill>
              </a:rPr>
              <a:t>뇌혈관·심장 각 2,000만 원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A6A6A"/>
                </a:solidFill>
              </a:rPr>
              <a:t>수술비·입원일당·항암치료비</a:t>
            </a:r>
            <a:endParaRPr lang="en-US" sz="1300" dirty="0"/>
          </a:p>
        </p:txBody>
      </p:sp>
      <p:sp>
        <p:nvSpPr>
          <p:cNvPr id="20" name="표준 플랜 버튼"/>
          <p:cNvSpPr/>
          <p:nvPr/>
        </p:nvSpPr>
        <p:spPr>
          <a:xfrm>
            <a:off x="4368698" y="5029200"/>
            <a:ext cx="3454298" cy="475488"/>
          </a:xfrm>
          <a:prstGeom prst="roundRect">
            <a:avLst>
              <a:gd name="adj" fmla="val 17308"/>
            </a:avLst>
          </a:prstGeom>
          <a:solidFill>
            <a:schemeClr val="accent1"/>
          </a:solidFill>
          <a:ln w="12700">
            <a:solidFill>
              <a:srgbClr val="FF38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이 플랜으로 상담</a:t>
            </a:r>
            <a:endParaRPr lang="en-US" sz="1400" dirty="0"/>
          </a:p>
        </p:txBody>
      </p:sp>
      <p:sp>
        <p:nvSpPr>
          <p:cNvPr id="21" name="든든 플랜 이미지 판"/>
          <p:cNvSpPr/>
          <p:nvPr/>
        </p:nvSpPr>
        <p:spPr>
          <a:xfrm>
            <a:off x="8097317" y="1691640"/>
            <a:ext cx="3454298" cy="1508760"/>
          </a:xfrm>
          <a:prstGeom prst="roundRect">
            <a:avLst>
              <a:gd name="adj" fmla="val 9697"/>
            </a:avLst>
          </a:prstGeom>
          <a:solidFill>
            <a:srgbClr val="F7F7F7"/>
          </a:solidFill>
          <a:ln/>
        </p:spPr>
      </p:sp>
      <p:pic>
        <p:nvPicPr>
          <p:cNvPr id="22" name="든든 플랜 일러스트" descr="든든 플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7626" y="2129180"/>
            <a:ext cx="633679" cy="633679"/>
          </a:xfrm>
          <a:prstGeom prst="rect">
            <a:avLst/>
          </a:prstGeom>
        </p:spPr>
      </p:pic>
      <p:sp>
        <p:nvSpPr>
          <p:cNvPr id="23" name="든든 플랜 하트 원"/>
          <p:cNvSpPr/>
          <p:nvPr/>
        </p:nvSpPr>
        <p:spPr>
          <a:xfrm>
            <a:off x="10984687" y="1874520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pic>
        <p:nvPicPr>
          <p:cNvPr id="24" name="든든 플랜 하트" descr="저장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6127" y="196596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097317" y="3337560"/>
            <a:ext cx="17271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든든 플랜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9824466" y="3337560"/>
            <a:ext cx="17271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월 61,500원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8097317" y="379476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A6A6A"/>
                </a:solidFill>
              </a:rPr>
              <a:t>암 진단비 7,000만 원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A6A6A"/>
                </a:solidFill>
              </a:rPr>
              <a:t>뇌혈관·심장 각 3,000만 원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A6A6A"/>
                </a:solidFill>
              </a:rPr>
              <a:t>수술비 500만·항암 1,000만 원</a:t>
            </a:r>
            <a:endParaRPr lang="en-US" sz="1300" dirty="0"/>
          </a:p>
        </p:txBody>
      </p:sp>
      <p:sp>
        <p:nvSpPr>
          <p:cNvPr id="28" name="든든 플랜 버튼"/>
          <p:cNvSpPr/>
          <p:nvPr/>
        </p:nvSpPr>
        <p:spPr>
          <a:xfrm>
            <a:off x="8097317" y="5029200"/>
            <a:ext cx="3454298" cy="475488"/>
          </a:xfrm>
          <a:prstGeom prst="roundRect">
            <a:avLst>
              <a:gd name="adj" fmla="val 17308"/>
            </a:avLst>
          </a:prstGeom>
          <a:solidFill>
            <a:schemeClr val="bg1"/>
          </a:solidFill>
          <a:ln w="12700">
            <a:solidFill>
              <a:srgbClr val="2222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상담 신청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64008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</a:rPr>
              <a:t>※ 40세 남성, 20년납 100세 만기 예시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6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6A"/>
                </a:solidFill>
              </a:rPr>
              <a:t>가입 절차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상담부터 가입까지 네 단계면 끝납니다</a:t>
            </a:r>
            <a:endParaRPr lang="en-US" sz="2800" dirty="0"/>
          </a:p>
        </p:txBody>
      </p:sp>
      <p:sp>
        <p:nvSpPr>
          <p:cNvPr id="4" name="연결 띠"/>
          <p:cNvSpPr/>
          <p:nvPr/>
        </p:nvSpPr>
        <p:spPr>
          <a:xfrm>
            <a:off x="640080" y="1965960"/>
            <a:ext cx="8901455" cy="512064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/>
        </p:spPr>
      </p:sp>
      <p:sp>
        <p:nvSpPr>
          <p:cNvPr id="5" name="단계 1 번호"/>
          <p:cNvSpPr/>
          <p:nvPr/>
        </p:nvSpPr>
        <p:spPr>
          <a:xfrm>
            <a:off x="640080" y="196596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단계 1 카드"/>
          <p:cNvSpPr/>
          <p:nvPr/>
        </p:nvSpPr>
        <p:spPr>
          <a:xfrm>
            <a:off x="640080" y="2788920"/>
            <a:ext cx="2522144" cy="2880360"/>
          </a:xfrm>
          <a:prstGeom prst="roundRect">
            <a:avLst>
              <a:gd name="adj" fmla="val 5801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무료 보장 분석 신청 원"/>
          <p:cNvSpPr/>
          <p:nvPr/>
        </p:nvSpPr>
        <p:spPr>
          <a:xfrm>
            <a:off x="960120" y="3108960"/>
            <a:ext cx="548640" cy="54864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8" name="무료 보장 분석 신청 아이콘" descr="무료 보장 분석 신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325160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3794760"/>
            <a:ext cx="1882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무료 보장 분석 신청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480560"/>
            <a:ext cx="1882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A6A6A"/>
                </a:solidFill>
              </a:rPr>
              <a:t>전화 또는 문자로 신청하면 담당 설계사가 연락드립니다.</a:t>
            </a:r>
            <a:endParaRPr lang="en-US" sz="1300" dirty="0"/>
          </a:p>
        </p:txBody>
      </p:sp>
      <p:sp>
        <p:nvSpPr>
          <p:cNvPr id="11" name="단계 2 번호"/>
          <p:cNvSpPr/>
          <p:nvPr/>
        </p:nvSpPr>
        <p:spPr>
          <a:xfrm>
            <a:off x="3436544" y="196596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단계 2 카드"/>
          <p:cNvSpPr/>
          <p:nvPr/>
        </p:nvSpPr>
        <p:spPr>
          <a:xfrm>
            <a:off x="3436544" y="2788920"/>
            <a:ext cx="2522144" cy="2880360"/>
          </a:xfrm>
          <a:prstGeom prst="roundRect">
            <a:avLst>
              <a:gd name="adj" fmla="val 5801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기존 보험 점검 원"/>
          <p:cNvSpPr/>
          <p:nvPr/>
        </p:nvSpPr>
        <p:spPr>
          <a:xfrm>
            <a:off x="3756584" y="3108960"/>
            <a:ext cx="548640" cy="54864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4" name="기존 보험 점검 아이콘" descr="기존 보험 점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230" y="325160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56584" y="3794760"/>
            <a:ext cx="1882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기존 보험 점검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756584" y="4480560"/>
            <a:ext cx="1882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A6A6A"/>
                </a:solidFill>
              </a:rPr>
              <a:t>가입한 보험에서 겹치는 보장과 빠진 보장을 찾아드립니다.</a:t>
            </a:r>
            <a:endParaRPr lang="en-US" sz="1300" dirty="0"/>
          </a:p>
        </p:txBody>
      </p:sp>
      <p:sp>
        <p:nvSpPr>
          <p:cNvPr id="17" name="단계 3 번호"/>
          <p:cNvSpPr/>
          <p:nvPr/>
        </p:nvSpPr>
        <p:spPr>
          <a:xfrm>
            <a:off x="6233008" y="196596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단계 3 카드"/>
          <p:cNvSpPr/>
          <p:nvPr/>
        </p:nvSpPr>
        <p:spPr>
          <a:xfrm>
            <a:off x="6233008" y="2788920"/>
            <a:ext cx="2522144" cy="2880360"/>
          </a:xfrm>
          <a:prstGeom prst="roundRect">
            <a:avLst>
              <a:gd name="adj" fmla="val 5801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" name="맞춤 플랜 설계 원"/>
          <p:cNvSpPr/>
          <p:nvPr/>
        </p:nvSpPr>
        <p:spPr>
          <a:xfrm>
            <a:off x="6553048" y="3108960"/>
            <a:ext cx="548640" cy="54864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20" name="맞춤 플랜 설계 아이콘" descr="맞춤 플랜 설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694" y="3251606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53048" y="3794760"/>
            <a:ext cx="1882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맞춤 플랜 설계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553048" y="4480560"/>
            <a:ext cx="1882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A6A6A"/>
                </a:solidFill>
              </a:rPr>
              <a:t>나이·예산·가족력에 맞는 플랜과 보험료를 제안합니다.</a:t>
            </a:r>
            <a:endParaRPr lang="en-US" sz="1300" dirty="0"/>
          </a:p>
        </p:txBody>
      </p:sp>
      <p:sp>
        <p:nvSpPr>
          <p:cNvPr id="23" name="단계 4 번호"/>
          <p:cNvSpPr/>
          <p:nvPr/>
        </p:nvSpPr>
        <p:spPr>
          <a:xfrm>
            <a:off x="9029471" y="196596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단계 4 카드"/>
          <p:cNvSpPr/>
          <p:nvPr/>
        </p:nvSpPr>
        <p:spPr>
          <a:xfrm>
            <a:off x="9029471" y="2788920"/>
            <a:ext cx="2522144" cy="2880360"/>
          </a:xfrm>
          <a:prstGeom prst="roundRect">
            <a:avLst>
              <a:gd name="adj" fmla="val 5801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5" name="전자서명으로 가입 원"/>
          <p:cNvSpPr/>
          <p:nvPr/>
        </p:nvSpPr>
        <p:spPr>
          <a:xfrm>
            <a:off x="9349511" y="3108960"/>
            <a:ext cx="548640" cy="54864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26" name="전자서명으로 가입 아이콘" descr="전자서명으로 가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158" y="3251606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349511" y="3794760"/>
            <a:ext cx="1882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전자서명으로 가입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349511" y="4480560"/>
            <a:ext cx="1882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A6A6A"/>
                </a:solidFill>
              </a:rPr>
              <a:t>휴대폰으로 약 10분이면 가입이 끝납니다.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6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마무리 제목"/>
          <p:cNvSpPr txBox="1"/>
          <p:nvPr/>
        </p:nvSpPr>
        <p:spPr>
          <a:xfrm>
            <a:off x="640080" y="1737360"/>
            <a:ext cx="5943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보장은 미리,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걱정은 나중에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747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F3F3F"/>
                </a:solidFill>
              </a:rPr>
              <a:t>지금 가입한 보험으로 충분한지, 무료 보장 분석으로 먼저 확인해 보세요.</a:t>
            </a:r>
            <a:endParaRPr lang="en-US" sz="1600" dirty="0"/>
          </a:p>
        </p:txBody>
      </p:sp>
      <p:sp>
        <p:nvSpPr>
          <p:cNvPr id="4" name="주 버튼"/>
          <p:cNvSpPr/>
          <p:nvPr/>
        </p:nvSpPr>
        <p:spPr>
          <a:xfrm>
            <a:off x="640080" y="4434840"/>
            <a:ext cx="2377440" cy="475488"/>
          </a:xfrm>
          <a:prstGeom prst="roundRect">
            <a:avLst>
              <a:gd name="adj" fmla="val 17308"/>
            </a:avLst>
          </a:prstGeom>
          <a:solidFill>
            <a:schemeClr val="accent1"/>
          </a:solidFill>
          <a:ln w="12700">
            <a:solidFill>
              <a:srgbClr val="FF38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무료 보장 분석 신청</a:t>
            </a:r>
            <a:endParaRPr lang="en-US" sz="1400" dirty="0"/>
          </a:p>
        </p:txBody>
      </p:sp>
      <p:sp>
        <p:nvSpPr>
          <p:cNvPr id="5" name="담당 설계사 카드"/>
          <p:cNvSpPr/>
          <p:nvPr/>
        </p:nvSpPr>
        <p:spPr>
          <a:xfrm>
            <a:off x="7452360" y="1600200"/>
            <a:ext cx="4096512" cy="36118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설계사 사진 자리 원"/>
          <p:cNvSpPr/>
          <p:nvPr/>
        </p:nvSpPr>
        <p:spPr>
          <a:xfrm>
            <a:off x="7818120" y="1965960"/>
            <a:ext cx="868680" cy="86868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7" name="설계사 사진 자리 아이콘" descr="설계사 사진 자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3977" y="2191817"/>
            <a:ext cx="416966" cy="41696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86968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홍길동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</a:rPr>
              <a:t>보험 설계사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18120" y="3108960"/>
            <a:ext cx="336499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329184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</a:rPr>
              <a:t>연락처 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010-0000-0000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365760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</a:rPr>
              <a:t>상담 시간 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평일 9시~18시</a:t>
            </a:r>
            <a:endParaRPr lang="en-US" sz="1400" dirty="0"/>
          </a:p>
        </p:txBody>
      </p:sp>
      <p:sp>
        <p:nvSpPr>
          <p:cNvPr id="13" name="보조 버튼"/>
          <p:cNvSpPr/>
          <p:nvPr/>
        </p:nvSpPr>
        <p:spPr>
          <a:xfrm>
            <a:off x="7818120" y="4462272"/>
            <a:ext cx="3364992" cy="475488"/>
          </a:xfrm>
          <a:prstGeom prst="roundRect">
            <a:avLst>
              <a:gd name="adj" fmla="val 17308"/>
            </a:avLst>
          </a:prstGeom>
          <a:solidFill>
            <a:schemeClr val="bg1"/>
          </a:solidFill>
          <a:ln w="12700">
            <a:solidFill>
              <a:srgbClr val="2222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설계사에게 문의하기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5532120"/>
            <a:ext cx="10911535" cy="0"/>
          </a:xfrm>
          <a:prstGeom prst="line">
            <a:avLst/>
          </a:prstGeom>
          <a:noFill/>
          <a:ln w="9525">
            <a:solidFill>
              <a:srgbClr val="EBEBEB"/>
            </a:solidFill>
            <a:prstDash val="solid"/>
          </a:ln>
        </p:spPr>
      </p:sp>
      <p:sp>
        <p:nvSpPr>
          <p:cNvPr id="15" name="유의사항"/>
          <p:cNvSpPr txBox="1"/>
          <p:nvPr/>
        </p:nvSpPr>
        <p:spPr>
          <a:xfrm>
            <a:off x="640080" y="566928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6A6A"/>
                </a:solidFill>
              </a:rPr>
              <a:t>※ 본 자료의 보험료·보장 금액은 이해를 돕기 위한 예시이며, 실제 가입 연령·성별·건강 상태·플랜에 따라 달라집니다. 가입 전 상품설명서와 약관을 반드시 확인하세요. 기존 계약을 해지하고 새 계약을 맺으면 보험료가 오르거나 보장이 제한될 수 있습니다.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bnb Inspired">
  <a:themeElements>
    <a:clrScheme name="Airbnb Inspired">
      <a:dk1>
        <a:srgbClr val="222222"/>
      </a:dk1>
      <a:lt1>
        <a:srgbClr val="FFFFFF"/>
      </a:lt1>
      <a:dk2>
        <a:srgbClr val="3F3F3F"/>
      </a:dk2>
      <a:lt2>
        <a:srgbClr val="F7F7F7"/>
      </a:lt2>
      <a:accent1>
        <a:srgbClr val="FF385C"/>
      </a:accent1>
      <a:accent2>
        <a:srgbClr val="E00B41"/>
      </a:accent2>
      <a:accent3>
        <a:srgbClr val="6A6A6A"/>
      </a:accent3>
      <a:accent4>
        <a:srgbClr val="FFD1DA"/>
      </a:accent4>
      <a:accent5>
        <a:srgbClr val="F2F2F2"/>
      </a:accent5>
      <a:accent6>
        <a:srgbClr val="DDDDDD"/>
      </a:accent6>
      <a:hlink>
        <a:srgbClr val="FF385C"/>
      </a:hlink>
      <a:folHlink>
        <a:srgbClr val="E00B41"/>
      </a:folHlink>
    </a:clrScheme>
    <a:fontScheme name="Airbnb Inspire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든든 3대질병 건강보험 상품 안내</dc:title>
  <dc:subject>PptxGenJS Presentation</dc:subject>
  <dc:creator>PptxGenJS</dc:creator>
  <cp:lastModifiedBy>PptxGenJS</cp:lastModifiedBy>
  <cp:revision>1</cp:revision>
  <dcterms:created xsi:type="dcterms:W3CDTF">2026-10-25T02:39:46Z</dcterms:created>
  <dcterms:modified xsi:type="dcterms:W3CDTF">2026-10-25T02:39:46Z</dcterms:modified>
</cp:coreProperties>
</file>