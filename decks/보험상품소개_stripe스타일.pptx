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fabc627e-4f55-9d56-5733-4a1ea8453b3a}">
          <p14:sldIdLst>
            <p14:sldId id="256"/>
          </p14:sldIdLst>
        </p14:section>
        <p14:section name="상품 소개" id="{4571a46f-5959-c3af-61c4-a6bd67c0dff7}">
          <p14:sldIdLst>
            <p14:sldId id="257"/>
            <p14:sldId id="258"/>
          </p14:sldIdLst>
        </p14:section>
        <p14:section name="보장 내용" id="{5afc8175-0cce-f83b-4a4f-3ad32edb4597}">
          <p14:sldIdLst>
            <p14:sldId id="259"/>
            <p14:sldId id="260"/>
            <p14:sldId id="261"/>
          </p14:sldIdLst>
        </p14:section>
        <p14:section name="보험료와 플랜" id="{bfd9bd18-9f04-75ec-6a4c-b46d934ce439}">
          <p14:sldIdLst>
            <p14:sldId id="262"/>
            <p14:sldId id="263"/>
          </p14:sldIdLst>
        </p14:section>
        <p14:section name="가입 안내" id="{749e0d5c-1632-aed6-ded0-7032d72b6e9a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64748D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64748D"/>
                </a:solidFill>
                <a:latin typeface="+mn-lt"/>
              </a:rPr>
              <a:t>가입 연령별 월 보험료 (표준 플랜, 원)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남성</c:v>
                </c:pt>
              </c:strCache>
            </c:strRef>
          </c:tx>
          <c:spPr>
            <a:solidFill>
              <a:srgbClr val="533AF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D25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30세</c:v>
                  </c:pt>
                  <c:pt idx="1">
                    <c:v>40세</c:v>
                  </c:pt>
                  <c:pt idx="2">
                    <c:v>50세</c:v>
                  </c:pt>
                  <c:pt idx="3">
                    <c:v>60세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28400</c:v>
                </c:pt>
                <c:pt idx="1">
                  <c:v>42300</c:v>
                </c:pt>
                <c:pt idx="2">
                  <c:v>63900</c:v>
                </c:pt>
                <c:pt idx="3">
                  <c:v>91500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여성</c:v>
                </c:pt>
              </c:strCache>
            </c:strRef>
          </c:tx>
          <c:spPr>
            <a:solidFill>
              <a:srgbClr val="B9B9F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D25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30세</c:v>
                  </c:pt>
                  <c:pt idx="1">
                    <c:v>40세</c:v>
                  </c:pt>
                  <c:pt idx="2">
                    <c:v>50세</c:v>
                  </c:pt>
                  <c:pt idx="3">
                    <c:v>60세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24100</c:v>
                </c:pt>
                <c:pt idx="1">
                  <c:v>35600</c:v>
                </c:pt>
                <c:pt idx="2">
                  <c:v>51200</c:v>
                </c:pt>
                <c:pt idx="3">
                  <c:v>72800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D253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9525" cap="flat">
              <a:solidFill>
                <a:srgbClr val="E3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273951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'아프면 목돈, 안 아프면 안심' 한 문장으로 상품의 핵심을 먼저 전달합니다. 오른쪽 카드는 표준 플랜 가입 시 보장 요약 예시입니다.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상품을 숫자 세 개로 요약합니다. 진단비 최대 1억 3,000만 원(든든 플랜), 100세 보장, 표준 플랜 월 4만 원대.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고객이 '내 이야기'로 느끼도록 네 가지 상황을 보여줍니다. 실손은 병원비, 진단비는 생활비라는 차이를 강조하세요.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표준 플랜 기준 진단비 표입니다. 실손과 달리 영수증 없이 정액으로 지급된다는 점이 핵심입니다. 유사암 범위는 약관 기준으로 안내하세요.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치료 흐름 순서대로 보장을 설명합니다. 진단 → 수술 → 입원 → 항암 치료. 고객이 실제 치료 과정을 떠올리게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가지 차별점: 비갱신형, 진단 시 납입면제, 간편심사 플랜. 고객이 가장 걱정하는 '보험료 인상'부터 짚으세요.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연령별 보험료 예시입니다. 40세와 50세 차이(월 21,600원)를 구체적으로 짚어 '지금' 가입할 이유를 보여주세요. 실제 보험료는 설계 시스템 기준으로 교체하세요.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가지 플랜 비교. 대부분 표준 플랜을 선택합니다. 예산이 빠듯하면 실속, 가족력이 있으면 든든 플랜을 권하세요. 보험료는 40세 남성 예시입니다.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가입 과정이 간단하다는 점을 보여줍니다. 1단계 무료 보장 분석 신청이 다음 행동입니다.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마무리. 다음 행동(무료 보장 분석 신청)을 하나만 제시합니다. 담당 설계사 이름과 연락처를 실제 정보로 바꿔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-image-1.jpe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CLOSING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100" kern="0" dirty="0">
                <a:solidFill>
                  <a:srgbClr val="4434D4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49808"/>
            <a:ext cx="86868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spc="-40" kern="0" dirty="0">
                <a:solidFill>
                  <a:srgbClr val="0D253D"/>
                </a:solidFill>
                <a:latin typeface="Malgun Gothic Semilight" pitchFamily="34" charset="0"/>
                <a:ea typeface="Malgun Gothic Semilight" pitchFamily="34" charset="-122"/>
                <a:cs typeface="Malgun Gothic Semilight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64008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D"/>
                </a:solidFill>
              </a:rPr>
              <a:t>든든 3대질병 건강보험 · 상품 안내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상단 태그"/>
          <p:cNvSpPr/>
          <p:nvPr/>
        </p:nvSpPr>
        <p:spPr>
          <a:xfrm>
            <a:off x="640080" y="214884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B9B9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434D4"/>
                </a:solidFill>
              </a:rPr>
              <a:t>건강보험 상품 안내</a:t>
            </a:r>
            <a:endParaRPr lang="en-US" sz="1100" dirty="0"/>
          </a:p>
        </p:txBody>
      </p:sp>
      <p:sp>
        <p:nvSpPr>
          <p:cNvPr id="3" name="메인 제목"/>
          <p:cNvSpPr txBox="1"/>
          <p:nvPr/>
        </p:nvSpPr>
        <p:spPr>
          <a:xfrm>
            <a:off x="640080" y="256032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spc="-80" kern="0" dirty="0">
                <a:solidFill>
                  <a:schemeClr val="tx1"/>
                </a:solidFill>
                <a:latin typeface="Malgun Gothic Semilight" pitchFamily="34" charset="0"/>
                <a:ea typeface="Malgun Gothic Semilight" pitchFamily="34" charset="-122"/>
                <a:cs typeface="Malgun Gothic Semilight" pitchFamily="34" charset="-120"/>
              </a:rPr>
              <a:t>아프면 목돈,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spc="-80" kern="0" dirty="0">
                <a:solidFill>
                  <a:schemeClr val="tx1"/>
                </a:solidFill>
                <a:latin typeface="Malgun Gothic Semilight" pitchFamily="34" charset="0"/>
                <a:ea typeface="Malgun Gothic Semilight" pitchFamily="34" charset="-122"/>
                <a:cs typeface="Malgun Gothic Semilight" pitchFamily="34" charset="-120"/>
              </a:rPr>
              <a:t>안 아프면 안심</a:t>
            </a:r>
            <a:endParaRPr lang="en-US" sz="4600" dirty="0"/>
          </a:p>
        </p:txBody>
      </p:sp>
      <p:sp>
        <p:nvSpPr>
          <p:cNvPr id="4" name="부제"/>
          <p:cNvSpPr txBox="1"/>
          <p:nvPr/>
        </p:nvSpPr>
        <p:spPr>
          <a:xfrm>
            <a:off x="640080" y="4389120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73951"/>
                </a:solidFill>
              </a:rPr>
              <a:t>암·뇌혈관·심장질환, 진단 확정 시 진단비를 한 번에 받는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73951"/>
                </a:solidFill>
              </a:rPr>
              <a:t>든든 3대질병 건강보험을 소개합니다.</a:t>
            </a:r>
            <a:endParaRPr lang="en-US" sz="1600" dirty="0"/>
          </a:p>
        </p:txBody>
      </p:sp>
      <p:sp>
        <p:nvSpPr>
          <p:cNvPr id="5" name="주 버튼"/>
          <p:cNvSpPr/>
          <p:nvPr/>
        </p:nvSpPr>
        <p:spPr>
          <a:xfrm>
            <a:off x="640080" y="5349240"/>
            <a:ext cx="2103120" cy="43891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rgbClr val="533A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무료 보장 분석 신청</a:t>
            </a:r>
            <a:endParaRPr lang="en-US" sz="1400" dirty="0"/>
          </a:p>
        </p:txBody>
      </p:sp>
      <p:sp>
        <p:nvSpPr>
          <p:cNvPr id="6" name="보조 버튼"/>
          <p:cNvSpPr/>
          <p:nvPr/>
        </p:nvSpPr>
        <p:spPr>
          <a:xfrm>
            <a:off x="2926080" y="5349240"/>
            <a:ext cx="1828800" cy="43891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rgbClr val="533A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33AFD"/>
                </a:solidFill>
              </a:rPr>
              <a:t>상품 자세히 보기</a:t>
            </a:r>
            <a:endParaRPr lang="en-US" sz="1400" dirty="0"/>
          </a:p>
        </p:txBody>
      </p:sp>
      <p:sp>
        <p:nvSpPr>
          <p:cNvPr id="7" name="보장 요약 카드"/>
          <p:cNvSpPr/>
          <p:nvPr/>
        </p:nvSpPr>
        <p:spPr>
          <a:xfrm>
            <a:off x="7498080" y="2011680"/>
            <a:ext cx="4050792" cy="3611880"/>
          </a:xfrm>
          <a:prstGeom prst="roundRect">
            <a:avLst>
              <a:gd name="adj" fmla="val 3544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228600" dist="76200" dir="5400000">
              <a:srgbClr val="00377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818120" y="2286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D"/>
                </a:solidFill>
              </a:rPr>
              <a:t>내 보장 요약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314432" y="2286000"/>
            <a:ext cx="914400" cy="256032"/>
          </a:xfrm>
          <a:prstGeom prst="roundRect">
            <a:avLst>
              <a:gd name="adj" fmla="val 46429"/>
            </a:avLst>
          </a:prstGeom>
          <a:solidFill>
            <a:srgbClr val="B9B9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434D4"/>
                </a:solidFill>
              </a:rPr>
              <a:t>표준 플랜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818120" y="2788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73951"/>
                </a:solidFill>
              </a:rPr>
              <a:t>암 진단비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692640" y="2788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D253D"/>
                </a:solidFill>
              </a:rPr>
              <a:t>5,000만 원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818120" y="3200400"/>
            <a:ext cx="3410712" cy="0"/>
          </a:xfrm>
          <a:prstGeom prst="line">
            <a:avLst/>
          </a:prstGeom>
          <a:noFill/>
          <a:ln w="9525">
            <a:solidFill>
              <a:srgbClr val="E3E8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818120" y="3246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73951"/>
                </a:solidFill>
              </a:rPr>
              <a:t>뇌혈관질환 진단비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692640" y="3246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D253D"/>
                </a:solidFill>
              </a:rPr>
              <a:t>2,000만 원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18120" y="3657600"/>
            <a:ext cx="3410712" cy="0"/>
          </a:xfrm>
          <a:prstGeom prst="line">
            <a:avLst/>
          </a:prstGeom>
          <a:noFill/>
          <a:ln w="9525">
            <a:solidFill>
              <a:srgbClr val="E3E8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818120" y="3703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73951"/>
                </a:solidFill>
              </a:rPr>
              <a:t>심장질환 진단비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692640" y="3703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D253D"/>
                </a:solidFill>
              </a:rPr>
              <a:t>2,000만 원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818120" y="4114800"/>
            <a:ext cx="3410712" cy="0"/>
          </a:xfrm>
          <a:prstGeom prst="line">
            <a:avLst/>
          </a:prstGeom>
          <a:noFill/>
          <a:ln w="9525">
            <a:solidFill>
              <a:srgbClr val="E3E8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818120" y="4160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73951"/>
                </a:solidFill>
              </a:rPr>
              <a:t>수술비 (회당)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692640" y="4160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D253D"/>
                </a:solidFill>
              </a:rPr>
              <a:t>300만 원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818120" y="4572000"/>
            <a:ext cx="3410712" cy="0"/>
          </a:xfrm>
          <a:prstGeom prst="line">
            <a:avLst/>
          </a:prstGeom>
          <a:noFill/>
          <a:ln w="9525">
            <a:solidFill>
              <a:srgbClr val="E3E8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818120" y="4754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D"/>
                </a:solidFill>
              </a:rPr>
              <a:t>월 보험료</a:t>
            </a:r>
            <a:endParaRPr lang="en-US" sz="1300" dirty="0"/>
          </a:p>
        </p:txBody>
      </p:sp>
      <p:sp>
        <p:nvSpPr>
          <p:cNvPr id="23" name="월 보험료"/>
          <p:cNvSpPr txBox="1"/>
          <p:nvPr/>
        </p:nvSpPr>
        <p:spPr>
          <a:xfrm>
            <a:off x="9235440" y="47091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dirty="0">
                <a:solidFill>
                  <a:srgbClr val="0D253D"/>
                </a:solidFill>
                <a:latin typeface="Malgun Gothic Semilight" pitchFamily="34" charset="0"/>
                <a:ea typeface="Malgun Gothic Semilight" pitchFamily="34" charset="-122"/>
                <a:cs typeface="Malgun Gothic Semilight" pitchFamily="34" charset="-120"/>
              </a:rPr>
              <a:t>42,300</a:t>
            </a:r>
            <a:pPr algn="r" indent="0" marL="0">
              <a:buNone/>
            </a:pPr>
            <a:r>
              <a:rPr lang="en-US" sz="1400" dirty="0">
                <a:solidFill>
                  <a:srgbClr val="64748D"/>
                </a:solidFill>
              </a:rPr>
              <a:t> 원</a:t>
            </a:r>
            <a:endParaRPr lang="en-US" sz="2800" dirty="0"/>
          </a:p>
        </p:txBody>
      </p:sp>
      <p:sp>
        <p:nvSpPr>
          <p:cNvPr id="24" name="Text 22"/>
          <p:cNvSpPr txBox="1"/>
          <p:nvPr/>
        </p:nvSpPr>
        <p:spPr>
          <a:xfrm>
            <a:off x="7818120" y="5760720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D"/>
                </a:solidFill>
              </a:rPr>
              <a:t>40세 남성 · 20년납 100세 만기 · 예시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434D4"/>
                </a:solidFill>
              </a:rPr>
              <a:t>한눈에 보기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49808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spc="-40" kern="0" dirty="0">
                <a:solidFill>
                  <a:srgbClr val="0D253D"/>
                </a:solidFill>
                <a:latin typeface="Malgun Gothic Semilight" pitchFamily="34" charset="0"/>
                <a:ea typeface="Malgun Gothic Semilight" pitchFamily="34" charset="-122"/>
                <a:cs typeface="Malgun Gothic Semilight" pitchFamily="34" charset="-120"/>
              </a:rPr>
              <a:t>숫자 세 개로 보는 든든 3대질병 건강보험</a:t>
            </a:r>
            <a:endParaRPr lang="en-US" sz="3000" dirty="0"/>
          </a:p>
        </p:txBody>
      </p:sp>
      <p:sp>
        <p:nvSpPr>
          <p:cNvPr id="4" name="요약 카드 1"/>
          <p:cNvSpPr/>
          <p:nvPr/>
        </p:nvSpPr>
        <p:spPr>
          <a:xfrm>
            <a:off x="640080" y="2011680"/>
            <a:ext cx="3454298" cy="3566160"/>
          </a:xfrm>
          <a:prstGeom prst="roundRect">
            <a:avLst>
              <a:gd name="adj" fmla="val 3706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50800" dist="12700" dir="5400000">
              <a:srgbClr val="003770">
                <a:alpha val="8000"/>
              </a:srgbClr>
            </a:outerShdw>
          </a:effectLst>
        </p:spPr>
      </p:sp>
      <p:sp>
        <p:nvSpPr>
          <p:cNvPr id="5" name="3대 질병 진단비 최대 합계 원"/>
          <p:cNvSpPr/>
          <p:nvPr/>
        </p:nvSpPr>
        <p:spPr>
          <a:xfrm>
            <a:off x="1005840" y="2377440"/>
            <a:ext cx="640080" cy="640080"/>
          </a:xfrm>
          <a:prstGeom prst="ellipse">
            <a:avLst/>
          </a:prstGeom>
          <a:solidFill>
            <a:srgbClr val="B9B9F9"/>
          </a:solidFill>
          <a:ln/>
        </p:spPr>
      </p:sp>
      <p:pic>
        <p:nvPicPr>
          <p:cNvPr id="6" name="3대 질병 진단비 최대 합계 아이콘" descr="3대 질병 진단비 최대 합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5860" y="25374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05840" y="3337560"/>
            <a:ext cx="27227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spc="-50" kern="0" dirty="0">
                <a:solidFill>
                  <a:srgbClr val="0D253D"/>
                </a:solidFill>
                <a:latin typeface="Malgun Gothic Semilight" pitchFamily="34" charset="0"/>
                <a:ea typeface="Malgun Gothic Semilight" pitchFamily="34" charset="-122"/>
                <a:cs typeface="Malgun Gothic Semilight" pitchFamily="34" charset="-120"/>
              </a:rPr>
              <a:t>1억 3,000만 원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4114800"/>
            <a:ext cx="27227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434D4"/>
                </a:solidFill>
              </a:rPr>
              <a:t>3대 질병 진단비 최대 합계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4526280"/>
            <a:ext cx="27227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73951"/>
                </a:solidFill>
              </a:rPr>
              <a:t>든든 플랜 기준, 진단 확정 시 일시금으로 지급</a:t>
            </a:r>
            <a:endParaRPr lang="en-US" sz="1400" dirty="0"/>
          </a:p>
        </p:txBody>
      </p:sp>
      <p:sp>
        <p:nvSpPr>
          <p:cNvPr id="10" name="요약 카드 2"/>
          <p:cNvSpPr/>
          <p:nvPr/>
        </p:nvSpPr>
        <p:spPr>
          <a:xfrm>
            <a:off x="4368698" y="2011680"/>
            <a:ext cx="3454298" cy="3566160"/>
          </a:xfrm>
          <a:prstGeom prst="roundRect">
            <a:avLst>
              <a:gd name="adj" fmla="val 3706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50800" dist="12700" dir="5400000">
              <a:srgbClr val="003770">
                <a:alpha val="8000"/>
              </a:srgbClr>
            </a:outerShdw>
          </a:effectLst>
        </p:spPr>
      </p:sp>
      <p:sp>
        <p:nvSpPr>
          <p:cNvPr id="11" name="보장 기간 원"/>
          <p:cNvSpPr/>
          <p:nvPr/>
        </p:nvSpPr>
        <p:spPr>
          <a:xfrm>
            <a:off x="4734458" y="2377440"/>
            <a:ext cx="640080" cy="640080"/>
          </a:xfrm>
          <a:prstGeom prst="ellipse">
            <a:avLst/>
          </a:prstGeom>
          <a:solidFill>
            <a:srgbClr val="B9B9F9"/>
          </a:solidFill>
          <a:ln/>
        </p:spPr>
      </p:sp>
      <p:pic>
        <p:nvPicPr>
          <p:cNvPr id="12" name="보장 기간 아이콘" descr="보장 기간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4478" y="253746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734458" y="3337560"/>
            <a:ext cx="27227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spc="-50" kern="0" dirty="0">
                <a:solidFill>
                  <a:srgbClr val="0D253D"/>
                </a:solidFill>
                <a:latin typeface="Malgun Gothic Semilight" pitchFamily="34" charset="0"/>
                <a:ea typeface="Malgun Gothic Semilight" pitchFamily="34" charset="-122"/>
                <a:cs typeface="Malgun Gothic Semilight" pitchFamily="34" charset="-120"/>
              </a:rPr>
              <a:t>100세</a:t>
            </a:r>
            <a:endParaRPr lang="en-US" sz="2800" dirty="0"/>
          </a:p>
        </p:txBody>
      </p:sp>
      <p:sp>
        <p:nvSpPr>
          <p:cNvPr id="14" name="Text 10"/>
          <p:cNvSpPr txBox="1"/>
          <p:nvPr/>
        </p:nvSpPr>
        <p:spPr>
          <a:xfrm>
            <a:off x="4734458" y="4114800"/>
            <a:ext cx="27227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434D4"/>
                </a:solidFill>
              </a:rPr>
              <a:t>보장 기간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4734458" y="4526280"/>
            <a:ext cx="27227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73951"/>
                </a:solidFill>
              </a:rPr>
              <a:t>20년만 내고 100세까지 같은 보장을 유지</a:t>
            </a:r>
            <a:endParaRPr lang="en-US" sz="1400" dirty="0"/>
          </a:p>
        </p:txBody>
      </p:sp>
      <p:sp>
        <p:nvSpPr>
          <p:cNvPr id="16" name="요약 카드 3"/>
          <p:cNvSpPr/>
          <p:nvPr/>
        </p:nvSpPr>
        <p:spPr>
          <a:xfrm>
            <a:off x="8097317" y="2011680"/>
            <a:ext cx="3454298" cy="3566160"/>
          </a:xfrm>
          <a:prstGeom prst="roundRect">
            <a:avLst>
              <a:gd name="adj" fmla="val 3706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50800" dist="12700" dir="5400000">
              <a:srgbClr val="003770">
                <a:alpha val="8000"/>
              </a:srgbClr>
            </a:outerShdw>
          </a:effectLst>
        </p:spPr>
      </p:sp>
      <p:sp>
        <p:nvSpPr>
          <p:cNvPr id="17" name="표준 플랜 보험료 원"/>
          <p:cNvSpPr/>
          <p:nvPr/>
        </p:nvSpPr>
        <p:spPr>
          <a:xfrm>
            <a:off x="8463077" y="2377440"/>
            <a:ext cx="640080" cy="640080"/>
          </a:xfrm>
          <a:prstGeom prst="ellipse">
            <a:avLst/>
          </a:prstGeom>
          <a:solidFill>
            <a:srgbClr val="B9B9F9"/>
          </a:solidFill>
          <a:ln/>
        </p:spPr>
      </p:sp>
      <p:pic>
        <p:nvPicPr>
          <p:cNvPr id="18" name="표준 플랜 보험료 아이콘" descr="표준 플랜 보험료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3097" y="253746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463077" y="3337560"/>
            <a:ext cx="27227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spc="-50" kern="0" dirty="0">
                <a:solidFill>
                  <a:srgbClr val="0D253D"/>
                </a:solidFill>
                <a:latin typeface="Malgun Gothic Semilight" pitchFamily="34" charset="0"/>
                <a:ea typeface="Malgun Gothic Semilight" pitchFamily="34" charset="-122"/>
                <a:cs typeface="Malgun Gothic Semilight" pitchFamily="34" charset="-120"/>
              </a:rPr>
              <a:t>월 4만 원대</a:t>
            </a:r>
            <a:endParaRPr lang="en-US" sz="2800" dirty="0"/>
          </a:p>
        </p:txBody>
      </p:sp>
      <p:sp>
        <p:nvSpPr>
          <p:cNvPr id="20" name="Text 15"/>
          <p:cNvSpPr txBox="1"/>
          <p:nvPr/>
        </p:nvSpPr>
        <p:spPr>
          <a:xfrm>
            <a:off x="8463077" y="4114800"/>
            <a:ext cx="27227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434D4"/>
                </a:solidFill>
              </a:rPr>
              <a:t>표준 플랜 보험료</a:t>
            </a:r>
            <a:endParaRPr lang="en-US" sz="1700" dirty="0"/>
          </a:p>
        </p:txBody>
      </p:sp>
      <p:sp>
        <p:nvSpPr>
          <p:cNvPr id="21" name="Text 16"/>
          <p:cNvSpPr txBox="1"/>
          <p:nvPr/>
        </p:nvSpPr>
        <p:spPr>
          <a:xfrm>
            <a:off x="8463077" y="4526280"/>
            <a:ext cx="27227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73951"/>
                </a:solidFill>
              </a:rPr>
              <a:t>40세 남성 기준, 가입 후 보험료가 오르지 않는 비갱신형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640080" y="5852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D"/>
                </a:solidFill>
              </a:rPr>
              <a:t>※ 보험료·보장 금액은 이해를 돕기 위한 예시입니다.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434D4"/>
                </a:solidFill>
              </a:rPr>
              <a:t>가입 대상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49808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spc="-40" kern="0" dirty="0">
                <a:solidFill>
                  <a:srgbClr val="0D253D"/>
                </a:solidFill>
                <a:latin typeface="Malgun Gothic Semilight" pitchFamily="34" charset="0"/>
                <a:ea typeface="Malgun Gothic Semilight" pitchFamily="34" charset="-122"/>
                <a:cs typeface="Malgun Gothic Semilight" pitchFamily="34" charset="-120"/>
              </a:rPr>
              <a:t>이런 분께 꼭 필요합니다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011680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273951"/>
                </a:solidFill>
              </a:rPr>
              <a:t>3대 질병은 치료 기간이 길고, 그동안 일을 쉬어야 하는 경우가 많습니다. 실손보험이 병원비를 돌려준다면, 진단비는 치료하는 동안의 생활비가 됩니다.</a:t>
            </a:r>
            <a:endParaRPr lang="en-US" sz="1600" dirty="0"/>
          </a:p>
        </p:txBody>
      </p:sp>
      <p:sp>
        <p:nvSpPr>
          <p:cNvPr id="5" name="버튼"/>
          <p:cNvSpPr/>
          <p:nvPr/>
        </p:nvSpPr>
        <p:spPr>
          <a:xfrm>
            <a:off x="640080" y="4434840"/>
            <a:ext cx="1920240" cy="43891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rgbClr val="533A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내 보장 점검하기</a:t>
            </a:r>
            <a:endParaRPr lang="en-US" sz="1400" dirty="0"/>
          </a:p>
        </p:txBody>
      </p:sp>
      <p:sp>
        <p:nvSpPr>
          <p:cNvPr id="6" name="대상 카드 1"/>
          <p:cNvSpPr/>
          <p:nvPr/>
        </p:nvSpPr>
        <p:spPr>
          <a:xfrm>
            <a:off x="4937760" y="2011680"/>
            <a:ext cx="3169768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50800" dist="12700" dir="5400000">
              <a:srgbClr val="003770">
                <a:alpha val="8000"/>
              </a:srgbClr>
            </a:outerShdw>
          </a:effectLst>
        </p:spPr>
      </p:sp>
      <p:sp>
        <p:nvSpPr>
          <p:cNvPr id="7" name="가족력이 있는 분 원"/>
          <p:cNvSpPr/>
          <p:nvPr/>
        </p:nvSpPr>
        <p:spPr>
          <a:xfrm>
            <a:off x="5257800" y="2331720"/>
            <a:ext cx="548640" cy="548640"/>
          </a:xfrm>
          <a:prstGeom prst="ellipse">
            <a:avLst/>
          </a:prstGeom>
          <a:solidFill>
            <a:srgbClr val="B9B9F9"/>
          </a:solidFill>
          <a:ln/>
        </p:spPr>
      </p:sp>
      <p:pic>
        <p:nvPicPr>
          <p:cNvPr id="8" name="가족력이 있는 분 아이콘" descr="가족력이 있는 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2468880"/>
            <a:ext cx="274320" cy="274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257800" y="2971800"/>
            <a:ext cx="2529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253D"/>
                </a:solidFill>
              </a:rPr>
              <a:t>가족력이 있는 분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5257800" y="3319272"/>
            <a:ext cx="2529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73951"/>
                </a:solidFill>
              </a:rPr>
              <a:t>부모님·형제가 암이나 심장질환을 겪은 경우</a:t>
            </a:r>
            <a:endParaRPr lang="en-US" sz="1300" dirty="0"/>
          </a:p>
        </p:txBody>
      </p:sp>
      <p:sp>
        <p:nvSpPr>
          <p:cNvPr id="11" name="대상 카드 2"/>
          <p:cNvSpPr/>
          <p:nvPr/>
        </p:nvSpPr>
        <p:spPr>
          <a:xfrm>
            <a:off x="8381848" y="2011680"/>
            <a:ext cx="3169768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50800" dist="12700" dir="5400000">
              <a:srgbClr val="003770">
                <a:alpha val="8000"/>
              </a:srgbClr>
            </a:outerShdw>
          </a:effectLst>
        </p:spPr>
      </p:sp>
      <p:sp>
        <p:nvSpPr>
          <p:cNvPr id="12" name="가정의 가장인 분 원"/>
          <p:cNvSpPr/>
          <p:nvPr/>
        </p:nvSpPr>
        <p:spPr>
          <a:xfrm>
            <a:off x="8701888" y="2331720"/>
            <a:ext cx="548640" cy="548640"/>
          </a:xfrm>
          <a:prstGeom prst="ellipse">
            <a:avLst/>
          </a:prstGeom>
          <a:solidFill>
            <a:srgbClr val="B9B9F9"/>
          </a:solidFill>
          <a:ln/>
        </p:spPr>
      </p:sp>
      <p:pic>
        <p:nvPicPr>
          <p:cNvPr id="13" name="가정의 가장인 분 아이콘" descr="가정의 가장인 분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9048" y="246888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8701888" y="2971800"/>
            <a:ext cx="2529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253D"/>
                </a:solidFill>
              </a:rPr>
              <a:t>가정의 가장인 분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8701888" y="3319272"/>
            <a:ext cx="2529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73951"/>
                </a:solidFill>
              </a:rPr>
              <a:t>치료 기간 소득이 끊겨도 생활비가 필요한 경우</a:t>
            </a:r>
            <a:endParaRPr lang="en-US" sz="1300" dirty="0"/>
          </a:p>
        </p:txBody>
      </p:sp>
      <p:sp>
        <p:nvSpPr>
          <p:cNvPr id="16" name="대상 카드 3"/>
          <p:cNvSpPr/>
          <p:nvPr/>
        </p:nvSpPr>
        <p:spPr>
          <a:xfrm>
            <a:off x="4937760" y="4114800"/>
            <a:ext cx="3169768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50800" dist="12700" dir="5400000">
              <a:srgbClr val="003770">
                <a:alpha val="8000"/>
              </a:srgbClr>
            </a:outerShdw>
          </a:effectLst>
        </p:spPr>
      </p:sp>
      <p:sp>
        <p:nvSpPr>
          <p:cNvPr id="17" name="실손보험만 있는 분 원"/>
          <p:cNvSpPr/>
          <p:nvPr/>
        </p:nvSpPr>
        <p:spPr>
          <a:xfrm>
            <a:off x="5257800" y="4434840"/>
            <a:ext cx="548640" cy="548640"/>
          </a:xfrm>
          <a:prstGeom prst="ellipse">
            <a:avLst/>
          </a:prstGeom>
          <a:solidFill>
            <a:srgbClr val="B9B9F9"/>
          </a:solidFill>
          <a:ln/>
        </p:spPr>
      </p:sp>
      <p:pic>
        <p:nvPicPr>
          <p:cNvPr id="18" name="실손보험만 있는 분 아이콘" descr="실손보험만 있는 분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457200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257800" y="5074920"/>
            <a:ext cx="2529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253D"/>
                </a:solidFill>
              </a:rPr>
              <a:t>실손보험만 있는 분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5257800" y="5422392"/>
            <a:ext cx="2529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73951"/>
                </a:solidFill>
              </a:rPr>
              <a:t>병원비 외 생활비·간병비 준비가 없는 경우</a:t>
            </a:r>
            <a:endParaRPr lang="en-US" sz="1300" dirty="0"/>
          </a:p>
        </p:txBody>
      </p:sp>
      <p:sp>
        <p:nvSpPr>
          <p:cNvPr id="21" name="대상 카드 4"/>
          <p:cNvSpPr/>
          <p:nvPr/>
        </p:nvSpPr>
        <p:spPr>
          <a:xfrm>
            <a:off x="8381848" y="4114800"/>
            <a:ext cx="3169768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50800" dist="12700" dir="5400000">
              <a:srgbClr val="003770">
                <a:alpha val="8000"/>
              </a:srgbClr>
            </a:outerShdw>
          </a:effectLst>
        </p:spPr>
      </p:sp>
      <p:sp>
        <p:nvSpPr>
          <p:cNvPr id="22" name="자영업자·프리랜서 원"/>
          <p:cNvSpPr/>
          <p:nvPr/>
        </p:nvSpPr>
        <p:spPr>
          <a:xfrm>
            <a:off x="8701888" y="4434840"/>
            <a:ext cx="548640" cy="548640"/>
          </a:xfrm>
          <a:prstGeom prst="ellipse">
            <a:avLst/>
          </a:prstGeom>
          <a:solidFill>
            <a:srgbClr val="B9B9F9"/>
          </a:solidFill>
          <a:ln/>
        </p:spPr>
      </p:sp>
      <p:pic>
        <p:nvPicPr>
          <p:cNvPr id="23" name="자영업자·프리랜서 아이콘" descr="자영업자·프리랜서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9048" y="4572000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701888" y="5074920"/>
            <a:ext cx="2529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253D"/>
                </a:solidFill>
              </a:rPr>
              <a:t>자영업자·프리랜서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8701888" y="5422392"/>
            <a:ext cx="2529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73951"/>
                </a:solidFill>
              </a:rPr>
              <a:t>쉬는 날이 곧 수입 공백이 되는 경우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434D4"/>
                </a:solidFill>
              </a:rPr>
              <a:t>핵심 보장 ①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49808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spc="-40" kern="0" dirty="0">
                <a:solidFill>
                  <a:srgbClr val="0D253D"/>
                </a:solidFill>
                <a:latin typeface="Malgun Gothic Semilight" pitchFamily="34" charset="0"/>
                <a:ea typeface="Malgun Gothic Semilight" pitchFamily="34" charset="-122"/>
                <a:cs typeface="Malgun Gothic Semilight" pitchFamily="34" charset="-120"/>
              </a:rPr>
              <a:t>진단 확정 즉시, 진단비를 한 번에</a:t>
            </a:r>
            <a:endParaRPr lang="en-US" sz="3000" dirty="0"/>
          </a:p>
        </p:txBody>
      </p:sp>
      <p:sp>
        <p:nvSpPr>
          <p:cNvPr id="4" name="진단비 표 카드"/>
          <p:cNvSpPr/>
          <p:nvPr/>
        </p:nvSpPr>
        <p:spPr>
          <a:xfrm>
            <a:off x="640080" y="1965960"/>
            <a:ext cx="6949440" cy="38404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228600" dist="76200" dir="5400000">
              <a:srgbClr val="00377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05840" y="2240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D"/>
                </a:solidFill>
              </a:rPr>
              <a:t>3대 질병 진단비 · 표준 플랜</a:t>
            </a:r>
            <a:endParaRPr lang="en-US" sz="1300" dirty="0"/>
          </a:p>
        </p:txBody>
      </p:sp>
      <p:graphicFrame>
        <p:nvGraphicFramePr>
          <p:cNvPr id="5" name="진단비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05840" y="2743200"/>
          <a:ext cx="621792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2514600"/>
                <a:gridCol w="15544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D"/>
                          </a:solidFill>
                        </a:rPr>
                        <a:t>보장 항목</a:t>
                      </a:r>
                      <a:endParaRPr lang="en-US" sz="12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D"/>
                          </a:solidFill>
                        </a:rPr>
                        <a:t>지급 사유</a:t>
                      </a:r>
                      <a:endParaRPr lang="en-US" sz="12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4748D"/>
                          </a:solidFill>
                        </a:rPr>
                        <a:t>보장 금액</a:t>
                      </a:r>
                      <a:endParaRPr lang="en-US" sz="12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D253D"/>
                          </a:solidFill>
                        </a:rPr>
                        <a:t>일반암 진단비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73951"/>
                          </a:solidFill>
                        </a:rPr>
                        <a:t>암으로 최초 진단 확정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D253D"/>
                          </a:solidFill>
                        </a:rPr>
                        <a:t>5,000만 원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D253D"/>
                          </a:solidFill>
                        </a:rPr>
                        <a:t>유사암 진단비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73951"/>
                          </a:solidFill>
                        </a:rPr>
                        <a:t>갑상선암·제자리암 등 진단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D253D"/>
                          </a:solidFill>
                        </a:rPr>
                        <a:t>1,000만 원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D253D"/>
                          </a:solidFill>
                        </a:rPr>
                        <a:t>뇌혈관질환 진단비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73951"/>
                          </a:solidFill>
                        </a:rPr>
                        <a:t>뇌졸중 등 뇌혈관질환 진단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D253D"/>
                          </a:solidFill>
                        </a:rPr>
                        <a:t>2,000만 원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D253D"/>
                          </a:solidFill>
                        </a:rPr>
                        <a:t>허혈성심장질환 진단비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73951"/>
                          </a:solidFill>
                        </a:rPr>
                        <a:t>급성심근경색 등 진단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D253D"/>
                          </a:solidFill>
                        </a:rPr>
                        <a:t>2,000만 원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크림 강조 카드"/>
          <p:cNvSpPr/>
          <p:nvPr/>
        </p:nvSpPr>
        <p:spPr>
          <a:xfrm>
            <a:off x="7955280" y="1965960"/>
            <a:ext cx="3596335" cy="3840480"/>
          </a:xfrm>
          <a:prstGeom prst="roundRect">
            <a:avLst>
              <a:gd name="adj" fmla="val 3560"/>
            </a:avLst>
          </a:prstGeom>
          <a:solidFill>
            <a:srgbClr val="F5E9D4"/>
          </a:solidFill>
          <a:ln/>
        </p:spPr>
      </p:sp>
      <p:sp>
        <p:nvSpPr>
          <p:cNvPr id="8" name="지갑 원"/>
          <p:cNvSpPr/>
          <p:nvPr/>
        </p:nvSpPr>
        <p:spPr>
          <a:xfrm>
            <a:off x="8321040" y="233172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지갑 아이콘" descr="지갑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9630" y="2480310"/>
            <a:ext cx="297180" cy="2971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321040" y="3154680"/>
            <a:ext cx="28648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D253D"/>
                </a:solidFill>
                <a:latin typeface="Malgun Gothic Semilight" pitchFamily="34" charset="0"/>
                <a:ea typeface="Malgun Gothic Semilight" pitchFamily="34" charset="-122"/>
                <a:cs typeface="Malgun Gothic Semilight" pitchFamily="34" charset="-120"/>
              </a:rPr>
              <a:t>어디에 써도 되는 돈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8321040" y="3703320"/>
            <a:ext cx="28648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273951"/>
                </a:solidFill>
              </a:rPr>
              <a:t>진단비는 영수증 없이 일시금으로 지급됩니다. 치료비, 생활비, 대출 이자, 간병비까지 필요한 곳에 바로 쓸 수 있습니다.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434D4"/>
                </a:solidFill>
              </a:rPr>
              <a:t>핵심 보장 ②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49808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spc="-40" kern="0" dirty="0">
                <a:solidFill>
                  <a:srgbClr val="0D253D"/>
                </a:solidFill>
                <a:latin typeface="Malgun Gothic Semilight" pitchFamily="34" charset="0"/>
                <a:ea typeface="Malgun Gothic Semilight" pitchFamily="34" charset="-122"/>
                <a:cs typeface="Malgun Gothic Semilight" pitchFamily="34" charset="-120"/>
              </a:rPr>
              <a:t>진단부터 치료까지, 단계마다 보장합니다</a:t>
            </a:r>
            <a:endParaRPr lang="en-US" sz="3000" dirty="0"/>
          </a:p>
        </p:txBody>
      </p:sp>
      <p:sp>
        <p:nvSpPr>
          <p:cNvPr id="4" name="단계 카드 1"/>
          <p:cNvSpPr/>
          <p:nvPr/>
        </p:nvSpPr>
        <p:spPr>
          <a:xfrm>
            <a:off x="640080" y="2148840"/>
            <a:ext cx="2522144" cy="3291840"/>
          </a:xfrm>
          <a:prstGeom prst="roundRect">
            <a:avLst>
              <a:gd name="adj" fmla="val 5076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50800" dist="12700" dir="5400000">
              <a:srgbClr val="00377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4688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434D4"/>
                </a:solidFill>
              </a:rPr>
              <a:t>STEP 1</a:t>
            </a:r>
            <a:endParaRPr lang="en-US" sz="1100" dirty="0"/>
          </a:p>
        </p:txBody>
      </p:sp>
      <p:sp>
        <p:nvSpPr>
          <p:cNvPr id="6" name="진단 원"/>
          <p:cNvSpPr/>
          <p:nvPr/>
        </p:nvSpPr>
        <p:spPr>
          <a:xfrm>
            <a:off x="960120" y="2880360"/>
            <a:ext cx="594360" cy="594360"/>
          </a:xfrm>
          <a:prstGeom prst="ellipse">
            <a:avLst/>
          </a:prstGeom>
          <a:solidFill>
            <a:srgbClr val="B9B9F9"/>
          </a:solidFill>
          <a:ln/>
        </p:spPr>
      </p:sp>
      <p:pic>
        <p:nvPicPr>
          <p:cNvPr id="7" name="진단 아이콘" descr="진단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710" y="3028950"/>
            <a:ext cx="297180" cy="2971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60120" y="3657600"/>
            <a:ext cx="188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D253D"/>
                </a:solidFill>
                <a:latin typeface="Malgun Gothic Semilight" pitchFamily="34" charset="0"/>
                <a:ea typeface="Malgun Gothic Semilight" pitchFamily="34" charset="-122"/>
                <a:cs typeface="Malgun Gothic Semilight" pitchFamily="34" charset="-120"/>
              </a:rPr>
              <a:t>진단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4206240"/>
            <a:ext cx="1882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D"/>
                </a:solidFill>
              </a:rPr>
              <a:t>진단비 일시금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4572000"/>
            <a:ext cx="188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253D"/>
                </a:solidFill>
              </a:rPr>
              <a:t>최대 5,000만 원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217088" y="3712464"/>
            <a:ext cx="164592" cy="164592"/>
          </a:xfrm>
          <a:prstGeom prst="rightArrow">
            <a:avLst/>
          </a:prstGeom>
          <a:solidFill>
            <a:srgbClr val="B9B9F9"/>
          </a:solidFill>
          <a:ln/>
        </p:spPr>
      </p:sp>
      <p:sp>
        <p:nvSpPr>
          <p:cNvPr id="12" name="단계 카드 2"/>
          <p:cNvSpPr/>
          <p:nvPr/>
        </p:nvSpPr>
        <p:spPr>
          <a:xfrm>
            <a:off x="3436544" y="2148840"/>
            <a:ext cx="2522144" cy="3291840"/>
          </a:xfrm>
          <a:prstGeom prst="roundRect">
            <a:avLst>
              <a:gd name="adj" fmla="val 5076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50800" dist="12700" dir="5400000">
              <a:srgbClr val="003770">
                <a:alpha val="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3756584" y="24688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434D4"/>
                </a:solidFill>
              </a:rPr>
              <a:t>STEP 2</a:t>
            </a:r>
            <a:endParaRPr lang="en-US" sz="1100" dirty="0"/>
          </a:p>
        </p:txBody>
      </p:sp>
      <p:sp>
        <p:nvSpPr>
          <p:cNvPr id="14" name="수술 원"/>
          <p:cNvSpPr/>
          <p:nvPr/>
        </p:nvSpPr>
        <p:spPr>
          <a:xfrm>
            <a:off x="3756584" y="2880360"/>
            <a:ext cx="594360" cy="594360"/>
          </a:xfrm>
          <a:prstGeom prst="ellipse">
            <a:avLst/>
          </a:prstGeom>
          <a:solidFill>
            <a:srgbClr val="B9B9F9"/>
          </a:solidFill>
          <a:ln/>
        </p:spPr>
      </p:sp>
      <p:pic>
        <p:nvPicPr>
          <p:cNvPr id="15" name="수술 아이콘" descr="수술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174" y="3028950"/>
            <a:ext cx="297180" cy="29718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756584" y="3657600"/>
            <a:ext cx="188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D253D"/>
                </a:solidFill>
                <a:latin typeface="Malgun Gothic Semilight" pitchFamily="34" charset="0"/>
                <a:ea typeface="Malgun Gothic Semilight" pitchFamily="34" charset="-122"/>
                <a:cs typeface="Malgun Gothic Semilight" pitchFamily="34" charset="-120"/>
              </a:rPr>
              <a:t>수술</a:t>
            </a:r>
            <a:endParaRPr lang="en-US" sz="2400" dirty="0"/>
          </a:p>
        </p:txBody>
      </p:sp>
      <p:sp>
        <p:nvSpPr>
          <p:cNvPr id="17" name="Text 13"/>
          <p:cNvSpPr txBox="1"/>
          <p:nvPr/>
        </p:nvSpPr>
        <p:spPr>
          <a:xfrm>
            <a:off x="3756584" y="4206240"/>
            <a:ext cx="1882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D"/>
                </a:solidFill>
              </a:rPr>
              <a:t>질병 수술비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3756584" y="4572000"/>
            <a:ext cx="188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253D"/>
                </a:solidFill>
              </a:rPr>
              <a:t>회당 300만 원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6013552" y="3712464"/>
            <a:ext cx="164592" cy="164592"/>
          </a:xfrm>
          <a:prstGeom prst="rightArrow">
            <a:avLst/>
          </a:prstGeom>
          <a:solidFill>
            <a:srgbClr val="B9B9F9"/>
          </a:solidFill>
          <a:ln/>
        </p:spPr>
      </p:sp>
      <p:sp>
        <p:nvSpPr>
          <p:cNvPr id="20" name="단계 카드 3"/>
          <p:cNvSpPr/>
          <p:nvPr/>
        </p:nvSpPr>
        <p:spPr>
          <a:xfrm>
            <a:off x="6233008" y="2148840"/>
            <a:ext cx="2522144" cy="3291840"/>
          </a:xfrm>
          <a:prstGeom prst="roundRect">
            <a:avLst>
              <a:gd name="adj" fmla="val 5076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50800" dist="12700" dir="5400000">
              <a:srgbClr val="003770">
                <a:alpha val="8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6553048" y="24688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434D4"/>
                </a:solidFill>
              </a:rPr>
              <a:t>STEP 3</a:t>
            </a:r>
            <a:endParaRPr lang="en-US" sz="1100" dirty="0"/>
          </a:p>
        </p:txBody>
      </p:sp>
      <p:sp>
        <p:nvSpPr>
          <p:cNvPr id="22" name="입원 원"/>
          <p:cNvSpPr/>
          <p:nvPr/>
        </p:nvSpPr>
        <p:spPr>
          <a:xfrm>
            <a:off x="6553048" y="2880360"/>
            <a:ext cx="594360" cy="594360"/>
          </a:xfrm>
          <a:prstGeom prst="ellipse">
            <a:avLst/>
          </a:prstGeom>
          <a:solidFill>
            <a:srgbClr val="B9B9F9"/>
          </a:solidFill>
          <a:ln/>
        </p:spPr>
      </p:sp>
      <p:pic>
        <p:nvPicPr>
          <p:cNvPr id="23" name="입원 아이콘" descr="입원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1638" y="3028950"/>
            <a:ext cx="297180" cy="29718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6553048" y="3657600"/>
            <a:ext cx="188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D253D"/>
                </a:solidFill>
                <a:latin typeface="Malgun Gothic Semilight" pitchFamily="34" charset="0"/>
                <a:ea typeface="Malgun Gothic Semilight" pitchFamily="34" charset="-122"/>
                <a:cs typeface="Malgun Gothic Semilight" pitchFamily="34" charset="-120"/>
              </a:rPr>
              <a:t>입원</a:t>
            </a:r>
            <a:endParaRPr lang="en-US" sz="2400" dirty="0"/>
          </a:p>
        </p:txBody>
      </p:sp>
      <p:sp>
        <p:nvSpPr>
          <p:cNvPr id="25" name="Text 20"/>
          <p:cNvSpPr txBox="1"/>
          <p:nvPr/>
        </p:nvSpPr>
        <p:spPr>
          <a:xfrm>
            <a:off x="6553048" y="4206240"/>
            <a:ext cx="1882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D"/>
                </a:solidFill>
              </a:rPr>
              <a:t>질병 입원일당</a:t>
            </a:r>
            <a:endParaRPr lang="en-US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6553048" y="4572000"/>
            <a:ext cx="188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253D"/>
                </a:solidFill>
              </a:rPr>
              <a:t>1일 3만 원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8810015" y="3712464"/>
            <a:ext cx="164592" cy="164592"/>
          </a:xfrm>
          <a:prstGeom prst="rightArrow">
            <a:avLst/>
          </a:prstGeom>
          <a:solidFill>
            <a:srgbClr val="B9B9F9"/>
          </a:solidFill>
          <a:ln/>
        </p:spPr>
      </p:sp>
      <p:sp>
        <p:nvSpPr>
          <p:cNvPr id="28" name="단계 카드 4"/>
          <p:cNvSpPr/>
          <p:nvPr/>
        </p:nvSpPr>
        <p:spPr>
          <a:xfrm>
            <a:off x="9029471" y="2148840"/>
            <a:ext cx="2522144" cy="3291840"/>
          </a:xfrm>
          <a:prstGeom prst="roundRect">
            <a:avLst>
              <a:gd name="adj" fmla="val 5076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50800" dist="12700" dir="5400000">
              <a:srgbClr val="003770">
                <a:alpha val="8000"/>
              </a:srgbClr>
            </a:outerShdw>
          </a:effectLst>
        </p:spPr>
      </p:sp>
      <p:sp>
        <p:nvSpPr>
          <p:cNvPr id="29" name="Text 24"/>
          <p:cNvSpPr txBox="1"/>
          <p:nvPr/>
        </p:nvSpPr>
        <p:spPr>
          <a:xfrm>
            <a:off x="9349511" y="24688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434D4"/>
                </a:solidFill>
              </a:rPr>
              <a:t>STEP 4</a:t>
            </a:r>
            <a:endParaRPr lang="en-US" sz="1100" dirty="0"/>
          </a:p>
        </p:txBody>
      </p:sp>
      <p:sp>
        <p:nvSpPr>
          <p:cNvPr id="30" name="항암 치료 원"/>
          <p:cNvSpPr/>
          <p:nvPr/>
        </p:nvSpPr>
        <p:spPr>
          <a:xfrm>
            <a:off x="9349511" y="2880360"/>
            <a:ext cx="594360" cy="594360"/>
          </a:xfrm>
          <a:prstGeom prst="ellipse">
            <a:avLst/>
          </a:prstGeom>
          <a:solidFill>
            <a:srgbClr val="B9B9F9"/>
          </a:solidFill>
          <a:ln/>
        </p:spPr>
      </p:sp>
      <p:pic>
        <p:nvPicPr>
          <p:cNvPr id="31" name="항암 치료 아이콘" descr="항암 치료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8101" y="3028950"/>
            <a:ext cx="297180" cy="297180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9349511" y="3657600"/>
            <a:ext cx="188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D253D"/>
                </a:solidFill>
                <a:latin typeface="Malgun Gothic Semilight" pitchFamily="34" charset="0"/>
                <a:ea typeface="Malgun Gothic Semilight" pitchFamily="34" charset="-122"/>
                <a:cs typeface="Malgun Gothic Semilight" pitchFamily="34" charset="-120"/>
              </a:rPr>
              <a:t>항암 치료</a:t>
            </a:r>
            <a:endParaRPr lang="en-US" sz="2400" dirty="0"/>
          </a:p>
        </p:txBody>
      </p:sp>
      <p:sp>
        <p:nvSpPr>
          <p:cNvPr id="33" name="Text 27"/>
          <p:cNvSpPr txBox="1"/>
          <p:nvPr/>
        </p:nvSpPr>
        <p:spPr>
          <a:xfrm>
            <a:off x="9349511" y="4206240"/>
            <a:ext cx="1882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D"/>
                </a:solidFill>
              </a:rPr>
              <a:t>항암치료비 (연 1회)</a:t>
            </a:r>
            <a:endParaRPr lang="en-US" sz="1400" dirty="0"/>
          </a:p>
        </p:txBody>
      </p:sp>
      <p:sp>
        <p:nvSpPr>
          <p:cNvPr id="34" name="Text 28"/>
          <p:cNvSpPr txBox="1"/>
          <p:nvPr/>
        </p:nvSpPr>
        <p:spPr>
          <a:xfrm>
            <a:off x="9349511" y="4572000"/>
            <a:ext cx="188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253D"/>
                </a:solidFill>
              </a:rPr>
              <a:t>연 500만 원</a:t>
            </a:r>
            <a:endParaRPr lang="en-US" sz="1800" dirty="0"/>
          </a:p>
        </p:txBody>
      </p:sp>
      <p:sp>
        <p:nvSpPr>
          <p:cNvPr id="35" name="Text 29"/>
          <p:cNvSpPr txBox="1"/>
          <p:nvPr/>
        </p:nvSpPr>
        <p:spPr>
          <a:xfrm>
            <a:off x="640080" y="5715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D"/>
                </a:solidFill>
              </a:rPr>
              <a:t>※ 표준 플랜 기준 예시. 보장 한도와 지급 횟수는 약관에 따릅니다.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434D4"/>
                </a:solidFill>
              </a:rPr>
              <a:t>차별점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49808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spc="-40" kern="0" dirty="0">
                <a:solidFill>
                  <a:srgbClr val="0D253D"/>
                </a:solidFill>
                <a:latin typeface="Malgun Gothic Semilight" pitchFamily="34" charset="0"/>
                <a:ea typeface="Malgun Gothic Semilight" pitchFamily="34" charset="-122"/>
                <a:cs typeface="Malgun Gothic Semilight" pitchFamily="34" charset="-120"/>
              </a:rPr>
              <a:t>다른 상품과 무엇이 다를까요</a:t>
            </a:r>
            <a:endParaRPr lang="en-US" sz="3000" dirty="0"/>
          </a:p>
        </p:txBody>
      </p:sp>
      <p:sp>
        <p:nvSpPr>
          <p:cNvPr id="4" name="크림 밴드"/>
          <p:cNvSpPr/>
          <p:nvPr/>
        </p:nvSpPr>
        <p:spPr>
          <a:xfrm>
            <a:off x="640080" y="1965960"/>
            <a:ext cx="10911535" cy="3840480"/>
          </a:xfrm>
          <a:prstGeom prst="roundRect">
            <a:avLst>
              <a:gd name="adj" fmla="val 3333"/>
            </a:avLst>
          </a:prstGeom>
          <a:solidFill>
            <a:srgbClr val="F5E9D4"/>
          </a:solidFill>
          <a:ln/>
        </p:spPr>
      </p:sp>
      <p:sp>
        <p:nvSpPr>
          <p:cNvPr id="5" name="차별점 카드 1"/>
          <p:cNvSpPr/>
          <p:nvPr/>
        </p:nvSpPr>
        <p:spPr>
          <a:xfrm>
            <a:off x="1005840" y="2331720"/>
            <a:ext cx="3210458" cy="310896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50800" dist="12700" dir="5400000">
              <a:srgbClr val="003770">
                <a:alpha val="8000"/>
              </a:srgbClr>
            </a:outerShdw>
          </a:effectLst>
        </p:spPr>
      </p:sp>
      <p:sp>
        <p:nvSpPr>
          <p:cNvPr id="6" name="보험료가 오르지 않습니다 원"/>
          <p:cNvSpPr/>
          <p:nvPr/>
        </p:nvSpPr>
        <p:spPr>
          <a:xfrm>
            <a:off x="1371600" y="2697480"/>
            <a:ext cx="640080" cy="640080"/>
          </a:xfrm>
          <a:prstGeom prst="ellipse">
            <a:avLst/>
          </a:prstGeom>
          <a:solidFill>
            <a:srgbClr val="533AFD"/>
          </a:solidFill>
          <a:ln/>
        </p:spPr>
      </p:sp>
      <p:pic>
        <p:nvPicPr>
          <p:cNvPr id="7" name="보험료가 오르지 않습니다 아이콘" descr="보험료가 오르지 않습니다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1620" y="2857500"/>
            <a:ext cx="320040" cy="3200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3566160"/>
            <a:ext cx="24789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D253D"/>
                </a:solidFill>
                <a:latin typeface="Malgun Gothic Semilight" pitchFamily="34" charset="0"/>
                <a:ea typeface="Malgun Gothic Semilight" pitchFamily="34" charset="-122"/>
                <a:cs typeface="Malgun Gothic Semilight" pitchFamily="34" charset="-120"/>
              </a:rPr>
              <a:t>보험료가 오르지 않습니다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371600" y="4251960"/>
            <a:ext cx="24789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73951"/>
                </a:solidFill>
              </a:rPr>
              <a:t>비갱신형 구조라 가입 때 정해진 보험료가 납입 기간 끝까지 그대로입니다.</a:t>
            </a:r>
            <a:endParaRPr lang="en-US" sz="1400" dirty="0"/>
          </a:p>
        </p:txBody>
      </p:sp>
      <p:sp>
        <p:nvSpPr>
          <p:cNvPr id="10" name="차별점 카드 2"/>
          <p:cNvSpPr/>
          <p:nvPr/>
        </p:nvSpPr>
        <p:spPr>
          <a:xfrm>
            <a:off x="4490618" y="2331720"/>
            <a:ext cx="3210458" cy="310896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50800" dist="12700" dir="5400000">
              <a:srgbClr val="003770">
                <a:alpha val="8000"/>
              </a:srgbClr>
            </a:outerShdw>
          </a:effectLst>
        </p:spPr>
      </p:sp>
      <p:sp>
        <p:nvSpPr>
          <p:cNvPr id="11" name="진단받으면 이후 보험료 면제 원"/>
          <p:cNvSpPr/>
          <p:nvPr/>
        </p:nvSpPr>
        <p:spPr>
          <a:xfrm>
            <a:off x="4856378" y="2697480"/>
            <a:ext cx="640080" cy="640080"/>
          </a:xfrm>
          <a:prstGeom prst="ellipse">
            <a:avLst/>
          </a:prstGeom>
          <a:solidFill>
            <a:srgbClr val="533AFD"/>
          </a:solidFill>
          <a:ln/>
        </p:spPr>
      </p:sp>
      <p:pic>
        <p:nvPicPr>
          <p:cNvPr id="12" name="진단받으면 이후 보험료 면제 아이콘" descr="진단받으면 이후 보험료 면제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6398" y="285750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856378" y="3566160"/>
            <a:ext cx="24789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D253D"/>
                </a:solidFill>
                <a:latin typeface="Malgun Gothic Semilight" pitchFamily="34" charset="0"/>
                <a:ea typeface="Malgun Gothic Semilight" pitchFamily="34" charset="-122"/>
                <a:cs typeface="Malgun Gothic Semilight" pitchFamily="34" charset="-120"/>
              </a:rPr>
              <a:t>진단받으면 이후 보험료 면제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4856378" y="4251960"/>
            <a:ext cx="24789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73951"/>
                </a:solidFill>
              </a:rPr>
              <a:t>3대 질병 진단 시 남은 보험료를 내지 않아도 보장은 그대로 유지됩니다.</a:t>
            </a:r>
            <a:endParaRPr lang="en-US" sz="1400" dirty="0"/>
          </a:p>
        </p:txBody>
      </p:sp>
      <p:sp>
        <p:nvSpPr>
          <p:cNvPr id="15" name="차별점 카드 3"/>
          <p:cNvSpPr/>
          <p:nvPr/>
        </p:nvSpPr>
        <p:spPr>
          <a:xfrm>
            <a:off x="7975397" y="2331720"/>
            <a:ext cx="3210458" cy="310896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50800" dist="12700" dir="5400000">
              <a:srgbClr val="003770">
                <a:alpha val="8000"/>
              </a:srgbClr>
            </a:outerShdw>
          </a:effectLst>
        </p:spPr>
      </p:sp>
      <p:sp>
        <p:nvSpPr>
          <p:cNvPr id="16" name="건강 상태에 맞춰 가입 원"/>
          <p:cNvSpPr/>
          <p:nvPr/>
        </p:nvSpPr>
        <p:spPr>
          <a:xfrm>
            <a:off x="8341157" y="2697480"/>
            <a:ext cx="640080" cy="640080"/>
          </a:xfrm>
          <a:prstGeom prst="ellipse">
            <a:avLst/>
          </a:prstGeom>
          <a:solidFill>
            <a:srgbClr val="533AFD"/>
          </a:solidFill>
          <a:ln/>
        </p:spPr>
      </p:sp>
      <p:pic>
        <p:nvPicPr>
          <p:cNvPr id="17" name="건강 상태에 맞춰 가입 아이콘" descr="건강 상태에 맞춰 가입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1177" y="285750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41157" y="3566160"/>
            <a:ext cx="24789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D253D"/>
                </a:solidFill>
                <a:latin typeface="Malgun Gothic Semilight" pitchFamily="34" charset="0"/>
                <a:ea typeface="Malgun Gothic Semilight" pitchFamily="34" charset="-122"/>
                <a:cs typeface="Malgun Gothic Semilight" pitchFamily="34" charset="-120"/>
              </a:rPr>
              <a:t>건강 상태에 맞춰 가입</a:t>
            </a:r>
            <a:endParaRPr lang="en-US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8341157" y="4251960"/>
            <a:ext cx="24789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73951"/>
                </a:solidFill>
              </a:rPr>
              <a:t>병력이 있어도 간편심사 플랜으로 가입 여부를 확인할 수 있습니다.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434D4"/>
                </a:solidFill>
              </a:rPr>
              <a:t>보험료 예시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49808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spc="-40" kern="0" dirty="0">
                <a:solidFill>
                  <a:srgbClr val="0D253D"/>
                </a:solidFill>
                <a:latin typeface="Malgun Gothic Semilight" pitchFamily="34" charset="0"/>
                <a:ea typeface="Malgun Gothic Semilight" pitchFamily="34" charset="-122"/>
                <a:cs typeface="Malgun Gothic Semilight" pitchFamily="34" charset="-120"/>
              </a:rPr>
              <a:t>일찍 가입할수록 보험료가 낮습니다</a:t>
            </a:r>
            <a:endParaRPr lang="en-US" sz="3000" dirty="0"/>
          </a:p>
        </p:txBody>
      </p:sp>
      <p:sp>
        <p:nvSpPr>
          <p:cNvPr id="4" name="차트 카드"/>
          <p:cNvSpPr/>
          <p:nvPr/>
        </p:nvSpPr>
        <p:spPr>
          <a:xfrm>
            <a:off x="640080" y="1920240"/>
            <a:ext cx="7315200" cy="402336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228600" dist="76200" dir="5400000">
              <a:srgbClr val="003770">
                <a:alpha val="10000"/>
              </a:srgbClr>
            </a:outerShdw>
          </a:effectLst>
        </p:spPr>
      </p:sp>
      <p:graphicFrame>
        <p:nvGraphicFramePr>
          <p:cNvPr id="5" name="보험료 차트" descr=""/>
          <p:cNvGraphicFramePr/>
          <p:nvPr/>
        </p:nvGraphicFramePr>
        <p:xfrm>
          <a:off x="914400" y="2148840"/>
          <a:ext cx="676656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321040" y="2103120"/>
            <a:ext cx="32305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D"/>
                </a:solidFill>
              </a:rPr>
              <a:t>40세 남성 기준</a:t>
            </a:r>
            <a:endParaRPr lang="en-US" sz="1300" dirty="0"/>
          </a:p>
        </p:txBody>
      </p:sp>
      <p:sp>
        <p:nvSpPr>
          <p:cNvPr id="7" name="대표 보험료"/>
          <p:cNvSpPr txBox="1"/>
          <p:nvPr/>
        </p:nvSpPr>
        <p:spPr>
          <a:xfrm>
            <a:off x="8321040" y="2423160"/>
            <a:ext cx="32305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D253D"/>
                </a:solidFill>
                <a:latin typeface="Malgun Gothic Semilight" pitchFamily="34" charset="0"/>
                <a:ea typeface="Malgun Gothic Semilight" pitchFamily="34" charset="-122"/>
                <a:cs typeface="Malgun Gothic Semilight" pitchFamily="34" charset="-120"/>
              </a:rPr>
              <a:t>42,300</a:t>
            </a:r>
            <a:pPr indent="0" marL="0">
              <a:buNone/>
            </a:pPr>
            <a:r>
              <a:rPr lang="en-US" sz="1600" dirty="0">
                <a:solidFill>
                  <a:srgbClr val="64748D"/>
                </a:solidFill>
              </a:rPr>
              <a:t> 원/월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8321040" y="3383280"/>
            <a:ext cx="32305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273951"/>
                </a:solidFill>
              </a:rPr>
              <a:t>50세에 가입하면 같은 보장에 매달 2만 원 넘게 더 냅니다. 비갱신형이라 가입할 때 정해진 보험료가 끝까지 유지됩니다.</a:t>
            </a:r>
            <a:endParaRPr lang="en-US" sz="1400" dirty="0"/>
          </a:p>
        </p:txBody>
      </p:sp>
      <p:sp>
        <p:nvSpPr>
          <p:cNvPr id="9" name="버튼"/>
          <p:cNvSpPr/>
          <p:nvPr/>
        </p:nvSpPr>
        <p:spPr>
          <a:xfrm>
            <a:off x="8321040" y="5074920"/>
            <a:ext cx="2011680" cy="43891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rgbClr val="533A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내 보험료 계산하기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434D4"/>
                </a:solidFill>
              </a:rPr>
              <a:t>플랜 비교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49808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spc="-40" kern="0" dirty="0">
                <a:solidFill>
                  <a:srgbClr val="0D253D"/>
                </a:solidFill>
                <a:latin typeface="Malgun Gothic Semilight" pitchFamily="34" charset="0"/>
                <a:ea typeface="Malgun Gothic Semilight" pitchFamily="34" charset="-122"/>
                <a:cs typeface="Malgun Gothic Semilight" pitchFamily="34" charset="-120"/>
              </a:rPr>
              <a:t>필요한 만큼 고르는 세 가지 플랜</a:t>
            </a:r>
            <a:endParaRPr lang="en-US" sz="3000" dirty="0"/>
          </a:p>
        </p:txBody>
      </p:sp>
      <p:sp>
        <p:nvSpPr>
          <p:cNvPr id="4" name="실속 플랜 카드"/>
          <p:cNvSpPr/>
          <p:nvPr/>
        </p:nvSpPr>
        <p:spPr>
          <a:xfrm>
            <a:off x="640080" y="1783080"/>
            <a:ext cx="3454298" cy="4343400"/>
          </a:xfrm>
          <a:prstGeom prst="roundRect">
            <a:avLst>
              <a:gd name="adj" fmla="val 3706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50800" dist="12700" dir="5400000">
              <a:srgbClr val="00377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05840" y="2103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D253D"/>
                </a:solidFill>
                <a:latin typeface="Malgun Gothic Semilight" pitchFamily="34" charset="0"/>
                <a:ea typeface="Malgun Gothic Semilight" pitchFamily="34" charset="-122"/>
                <a:cs typeface="Malgun Gothic Semilight" pitchFamily="34" charset="-120"/>
              </a:rPr>
              <a:t>실속 플랜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606040"/>
            <a:ext cx="27227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D253D"/>
                </a:solidFill>
                <a:latin typeface="Malgun Gothic Semilight" pitchFamily="34" charset="0"/>
                <a:ea typeface="Malgun Gothic Semilight" pitchFamily="34" charset="-122"/>
                <a:cs typeface="Malgun Gothic Semilight" pitchFamily="34" charset="-120"/>
              </a:rPr>
              <a:t>29,800</a:t>
            </a:r>
            <a:pPr indent="0" marL="0">
              <a:buNone/>
            </a:pPr>
            <a:r>
              <a:rPr lang="en-US" sz="1400" dirty="0">
                <a:solidFill>
                  <a:srgbClr val="64748D"/>
                </a:solidFill>
              </a:rPr>
              <a:t> 원/월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005840" y="3429000"/>
            <a:ext cx="2722778" cy="0"/>
          </a:xfrm>
          <a:prstGeom prst="line">
            <a:avLst/>
          </a:prstGeom>
          <a:noFill/>
          <a:ln w="9525">
            <a:solidFill>
              <a:srgbClr val="E3E8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3611880"/>
            <a:ext cx="272277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73951"/>
                </a:solidFill>
              </a:rPr>
              <a:t>암 진단비 3,000만 원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73951"/>
                </a:solidFill>
              </a:rPr>
              <a:t>뇌혈관 진단비 1,000만 원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73951"/>
                </a:solidFill>
              </a:rPr>
              <a:t>심장질환 진단비 1,000만 원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73951"/>
                </a:solidFill>
              </a:rPr>
              <a:t>진단 시 보험료 납입면제</a:t>
            </a:r>
            <a:endParaRPr lang="en-US" sz="1400" dirty="0"/>
          </a:p>
        </p:txBody>
      </p:sp>
      <p:sp>
        <p:nvSpPr>
          <p:cNvPr id="9" name="실속 플랜 버튼"/>
          <p:cNvSpPr/>
          <p:nvPr/>
        </p:nvSpPr>
        <p:spPr>
          <a:xfrm>
            <a:off x="1005840" y="5394960"/>
            <a:ext cx="2722778" cy="43891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rgbClr val="533A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33AFD"/>
                </a:solidFill>
              </a:rPr>
              <a:t>상담 신청</a:t>
            </a:r>
            <a:endParaRPr lang="en-US" sz="1400" dirty="0"/>
          </a:p>
        </p:txBody>
      </p:sp>
      <p:sp>
        <p:nvSpPr>
          <p:cNvPr id="10" name="표준 플랜 카드"/>
          <p:cNvSpPr/>
          <p:nvPr/>
        </p:nvSpPr>
        <p:spPr>
          <a:xfrm>
            <a:off x="4368698" y="1783080"/>
            <a:ext cx="3454298" cy="4343400"/>
          </a:xfrm>
          <a:prstGeom prst="roundRect">
            <a:avLst>
              <a:gd name="adj" fmla="val 3706"/>
            </a:avLst>
          </a:prstGeom>
          <a:solidFill>
            <a:srgbClr val="1C1E54"/>
          </a:solidFill>
          <a:ln/>
          <a:effectLst>
            <a:outerShdw sx="100000" sy="100000" kx="0" ky="0" algn="bl" rotWithShape="0" blurRad="228600" dist="76200" dir="5400000">
              <a:srgbClr val="003770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734458" y="2103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algun Gothic Semilight" pitchFamily="34" charset="0"/>
                <a:ea typeface="Malgun Gothic Semilight" pitchFamily="34" charset="-122"/>
                <a:cs typeface="Malgun Gothic Semilight" pitchFamily="34" charset="-120"/>
              </a:rPr>
              <a:t>표준 플랜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314237" y="2130552"/>
            <a:ext cx="1188720" cy="274320"/>
          </a:xfrm>
          <a:prstGeom prst="roundRect">
            <a:avLst>
              <a:gd name="adj" fmla="val 46667"/>
            </a:avLst>
          </a:prstGeom>
          <a:solidFill>
            <a:srgbClr val="533A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가장 많이 선택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734458" y="2606040"/>
            <a:ext cx="27227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Malgun Gothic Semilight" pitchFamily="34" charset="0"/>
                <a:ea typeface="Malgun Gothic Semilight" pitchFamily="34" charset="-122"/>
                <a:cs typeface="Malgun Gothic Semilight" pitchFamily="34" charset="-120"/>
              </a:rPr>
              <a:t>42,300</a:t>
            </a:r>
            <a:pPr indent="0" marL="0">
              <a:buNone/>
            </a:pPr>
            <a:r>
              <a:rPr lang="en-US" sz="1400" dirty="0">
                <a:solidFill>
                  <a:srgbClr val="C9CCF0"/>
                </a:solidFill>
              </a:rPr>
              <a:t> 원/월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4734458" y="3429000"/>
            <a:ext cx="2722778" cy="0"/>
          </a:xfrm>
          <a:prstGeom prst="line">
            <a:avLst/>
          </a:prstGeom>
          <a:noFill/>
          <a:ln w="9525">
            <a:solidFill>
              <a:srgbClr val="3A3D7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34458" y="3611880"/>
            <a:ext cx="272277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C9CCF0"/>
                </a:solidFill>
              </a:rPr>
              <a:t>암 진단비 5,000만 원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C9CCF0"/>
                </a:solidFill>
              </a:rPr>
              <a:t>뇌혈관·심장 각 2,000만 원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C9CCF0"/>
                </a:solidFill>
              </a:rPr>
              <a:t>수술비 회당 300만 원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C9CCF0"/>
                </a:solidFill>
              </a:rPr>
              <a:t>입원일당·항암치료비 포함</a:t>
            </a:r>
            <a:endParaRPr lang="en-US" sz="1400" dirty="0"/>
          </a:p>
        </p:txBody>
      </p:sp>
      <p:sp>
        <p:nvSpPr>
          <p:cNvPr id="16" name="표준 플랜 버튼"/>
          <p:cNvSpPr/>
          <p:nvPr/>
        </p:nvSpPr>
        <p:spPr>
          <a:xfrm>
            <a:off x="4734458" y="5394960"/>
            <a:ext cx="2722778" cy="43891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rgbClr val="533A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이 플랜으로 상담</a:t>
            </a:r>
            <a:endParaRPr lang="en-US" sz="1400" dirty="0"/>
          </a:p>
        </p:txBody>
      </p:sp>
      <p:sp>
        <p:nvSpPr>
          <p:cNvPr id="17" name="든든 플랜 카드"/>
          <p:cNvSpPr/>
          <p:nvPr/>
        </p:nvSpPr>
        <p:spPr>
          <a:xfrm>
            <a:off x="8097317" y="1783080"/>
            <a:ext cx="3454298" cy="4343400"/>
          </a:xfrm>
          <a:prstGeom prst="roundRect">
            <a:avLst>
              <a:gd name="adj" fmla="val 3706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50800" dist="12700" dir="5400000">
              <a:srgbClr val="003770">
                <a:alpha val="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463077" y="2103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D253D"/>
                </a:solidFill>
                <a:latin typeface="Malgun Gothic Semilight" pitchFamily="34" charset="0"/>
                <a:ea typeface="Malgun Gothic Semilight" pitchFamily="34" charset="-122"/>
                <a:cs typeface="Malgun Gothic Semilight" pitchFamily="34" charset="-120"/>
              </a:rPr>
              <a:t>든든 플랜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463077" y="2606040"/>
            <a:ext cx="27227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D253D"/>
                </a:solidFill>
                <a:latin typeface="Malgun Gothic Semilight" pitchFamily="34" charset="0"/>
                <a:ea typeface="Malgun Gothic Semilight" pitchFamily="34" charset="-122"/>
                <a:cs typeface="Malgun Gothic Semilight" pitchFamily="34" charset="-120"/>
              </a:rPr>
              <a:t>61,500</a:t>
            </a:r>
            <a:pPr indent="0" marL="0">
              <a:buNone/>
            </a:pPr>
            <a:r>
              <a:rPr lang="en-US" sz="1400" dirty="0">
                <a:solidFill>
                  <a:srgbClr val="64748D"/>
                </a:solidFill>
              </a:rPr>
              <a:t> 원/월</a:t>
            </a:r>
            <a:endParaRPr lang="en-US" sz="3200" dirty="0"/>
          </a:p>
        </p:txBody>
      </p:sp>
      <p:sp>
        <p:nvSpPr>
          <p:cNvPr id="20" name="Shape 18"/>
          <p:cNvSpPr/>
          <p:nvPr/>
        </p:nvSpPr>
        <p:spPr>
          <a:xfrm>
            <a:off x="8463077" y="3429000"/>
            <a:ext cx="2722778" cy="0"/>
          </a:xfrm>
          <a:prstGeom prst="line">
            <a:avLst/>
          </a:prstGeom>
          <a:noFill/>
          <a:ln w="9525">
            <a:solidFill>
              <a:srgbClr val="E3E8E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63077" y="3611880"/>
            <a:ext cx="272277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73951"/>
                </a:solidFill>
              </a:rPr>
              <a:t>암 진단비 7,000만 원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73951"/>
                </a:solidFill>
              </a:rPr>
              <a:t>뇌혈관·심장 각 3,000만 원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73951"/>
                </a:solidFill>
              </a:rPr>
              <a:t>수술비 회당 500만 원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73951"/>
                </a:solidFill>
              </a:rPr>
              <a:t>항암치료비 연 1,000만 원</a:t>
            </a:r>
            <a:endParaRPr lang="en-US" sz="1400" dirty="0"/>
          </a:p>
        </p:txBody>
      </p:sp>
      <p:sp>
        <p:nvSpPr>
          <p:cNvPr id="22" name="든든 플랜 버튼"/>
          <p:cNvSpPr/>
          <p:nvPr/>
        </p:nvSpPr>
        <p:spPr>
          <a:xfrm>
            <a:off x="8463077" y="5394960"/>
            <a:ext cx="2722778" cy="43891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rgbClr val="533A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33AFD"/>
                </a:solidFill>
              </a:rPr>
              <a:t>상담 신청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434D4"/>
                </a:solidFill>
              </a:rPr>
              <a:t>가입 절차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49808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spc="-40" kern="0" dirty="0">
                <a:solidFill>
                  <a:srgbClr val="0D253D"/>
                </a:solidFill>
                <a:latin typeface="Malgun Gothic Semilight" pitchFamily="34" charset="0"/>
                <a:ea typeface="Malgun Gothic Semilight" pitchFamily="34" charset="-122"/>
                <a:cs typeface="Malgun Gothic Semilight" pitchFamily="34" charset="-120"/>
              </a:rPr>
              <a:t>상담부터 가입까지 네 단계면 끝납니다</a:t>
            </a:r>
            <a:endParaRPr lang="en-US" sz="3000" dirty="0"/>
          </a:p>
        </p:txBody>
      </p:sp>
      <p:sp>
        <p:nvSpPr>
          <p:cNvPr id="4" name="연결선"/>
          <p:cNvSpPr/>
          <p:nvPr/>
        </p:nvSpPr>
        <p:spPr>
          <a:xfrm>
            <a:off x="923544" y="2386584"/>
            <a:ext cx="8389391" cy="0"/>
          </a:xfrm>
          <a:prstGeom prst="line">
            <a:avLst/>
          </a:prstGeom>
          <a:noFill/>
          <a:ln w="19050">
            <a:solidFill>
              <a:srgbClr val="B9B9F9"/>
            </a:solidFill>
            <a:prstDash val="solid"/>
          </a:ln>
        </p:spPr>
      </p:sp>
      <p:sp>
        <p:nvSpPr>
          <p:cNvPr id="5" name="단계 1 번호"/>
          <p:cNvSpPr/>
          <p:nvPr/>
        </p:nvSpPr>
        <p:spPr>
          <a:xfrm>
            <a:off x="640080" y="2103120"/>
            <a:ext cx="566928" cy="566928"/>
          </a:xfrm>
          <a:prstGeom prst="ellipse">
            <a:avLst/>
          </a:prstGeom>
          <a:solidFill>
            <a:srgbClr val="533A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단계 1 카드"/>
          <p:cNvSpPr/>
          <p:nvPr/>
        </p:nvSpPr>
        <p:spPr>
          <a:xfrm>
            <a:off x="640080" y="3017520"/>
            <a:ext cx="2522144" cy="2743200"/>
          </a:xfrm>
          <a:prstGeom prst="roundRect">
            <a:avLst>
              <a:gd name="adj" fmla="val 5076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50800" dist="12700" dir="5400000">
              <a:srgbClr val="003770">
                <a:alpha val="8000"/>
              </a:srgbClr>
            </a:outerShdw>
          </a:effectLst>
        </p:spPr>
      </p:sp>
      <p:sp>
        <p:nvSpPr>
          <p:cNvPr id="7" name="무료 보장 분석 신청 원"/>
          <p:cNvSpPr/>
          <p:nvPr/>
        </p:nvSpPr>
        <p:spPr>
          <a:xfrm>
            <a:off x="960120" y="3337560"/>
            <a:ext cx="548640" cy="548640"/>
          </a:xfrm>
          <a:prstGeom prst="ellipse">
            <a:avLst/>
          </a:prstGeom>
          <a:solidFill>
            <a:srgbClr val="B9B9F9"/>
          </a:solidFill>
          <a:ln/>
        </p:spPr>
      </p:sp>
      <p:pic>
        <p:nvPicPr>
          <p:cNvPr id="8" name="무료 보장 분석 신청 아이콘" descr="무료 보장 분석 신청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3474720"/>
            <a:ext cx="274320" cy="274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60120" y="4023360"/>
            <a:ext cx="18820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253D"/>
                </a:solidFill>
              </a:rPr>
              <a:t>무료 보장 분석 신청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4709160"/>
            <a:ext cx="18820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273951"/>
                </a:solidFill>
              </a:rPr>
              <a:t>전화 또는 문자로 신청하면 담당 설계사가 연락드립니다.</a:t>
            </a:r>
            <a:endParaRPr lang="en-US" sz="1300" dirty="0"/>
          </a:p>
        </p:txBody>
      </p:sp>
      <p:sp>
        <p:nvSpPr>
          <p:cNvPr id="11" name="단계 2 번호"/>
          <p:cNvSpPr/>
          <p:nvPr/>
        </p:nvSpPr>
        <p:spPr>
          <a:xfrm>
            <a:off x="3436544" y="2103120"/>
            <a:ext cx="566928" cy="566928"/>
          </a:xfrm>
          <a:prstGeom prst="ellipse">
            <a:avLst/>
          </a:prstGeom>
          <a:solidFill>
            <a:srgbClr val="1C1E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단계 2 카드"/>
          <p:cNvSpPr/>
          <p:nvPr/>
        </p:nvSpPr>
        <p:spPr>
          <a:xfrm>
            <a:off x="3436544" y="3017520"/>
            <a:ext cx="2522144" cy="2743200"/>
          </a:xfrm>
          <a:prstGeom prst="roundRect">
            <a:avLst>
              <a:gd name="adj" fmla="val 5076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50800" dist="12700" dir="5400000">
              <a:srgbClr val="003770">
                <a:alpha val="8000"/>
              </a:srgbClr>
            </a:outerShdw>
          </a:effectLst>
        </p:spPr>
      </p:sp>
      <p:sp>
        <p:nvSpPr>
          <p:cNvPr id="13" name="기존 보험 점검 원"/>
          <p:cNvSpPr/>
          <p:nvPr/>
        </p:nvSpPr>
        <p:spPr>
          <a:xfrm>
            <a:off x="3756584" y="3337560"/>
            <a:ext cx="548640" cy="548640"/>
          </a:xfrm>
          <a:prstGeom prst="ellipse">
            <a:avLst/>
          </a:prstGeom>
          <a:solidFill>
            <a:srgbClr val="B9B9F9"/>
          </a:solidFill>
          <a:ln/>
        </p:spPr>
      </p:sp>
      <p:pic>
        <p:nvPicPr>
          <p:cNvPr id="14" name="기존 보험 점검 아이콘" descr="기존 보험 점검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3744" y="347472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756584" y="4023360"/>
            <a:ext cx="18820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253D"/>
                </a:solidFill>
              </a:rPr>
              <a:t>기존 보험 점검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3756584" y="4709160"/>
            <a:ext cx="18820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273951"/>
                </a:solidFill>
              </a:rPr>
              <a:t>가입한 보험에서 겹치는 보장과 빠진 보장을 찾아드립니다.</a:t>
            </a:r>
            <a:endParaRPr lang="en-US" sz="1300" dirty="0"/>
          </a:p>
        </p:txBody>
      </p:sp>
      <p:sp>
        <p:nvSpPr>
          <p:cNvPr id="17" name="단계 3 번호"/>
          <p:cNvSpPr/>
          <p:nvPr/>
        </p:nvSpPr>
        <p:spPr>
          <a:xfrm>
            <a:off x="6233008" y="2103120"/>
            <a:ext cx="566928" cy="566928"/>
          </a:xfrm>
          <a:prstGeom prst="ellipse">
            <a:avLst/>
          </a:prstGeom>
          <a:solidFill>
            <a:srgbClr val="1C1E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단계 3 카드"/>
          <p:cNvSpPr/>
          <p:nvPr/>
        </p:nvSpPr>
        <p:spPr>
          <a:xfrm>
            <a:off x="6233008" y="3017520"/>
            <a:ext cx="2522144" cy="2743200"/>
          </a:xfrm>
          <a:prstGeom prst="roundRect">
            <a:avLst>
              <a:gd name="adj" fmla="val 5076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50800" dist="12700" dir="5400000">
              <a:srgbClr val="003770">
                <a:alpha val="8000"/>
              </a:srgbClr>
            </a:outerShdw>
          </a:effectLst>
        </p:spPr>
      </p:sp>
      <p:sp>
        <p:nvSpPr>
          <p:cNvPr id="19" name="맞춤 플랜 설계 원"/>
          <p:cNvSpPr/>
          <p:nvPr/>
        </p:nvSpPr>
        <p:spPr>
          <a:xfrm>
            <a:off x="6553048" y="3337560"/>
            <a:ext cx="548640" cy="548640"/>
          </a:xfrm>
          <a:prstGeom prst="ellipse">
            <a:avLst/>
          </a:prstGeom>
          <a:solidFill>
            <a:srgbClr val="B9B9F9"/>
          </a:solidFill>
          <a:ln/>
        </p:spPr>
      </p:sp>
      <p:pic>
        <p:nvPicPr>
          <p:cNvPr id="20" name="맞춤 플랜 설계 아이콘" descr="맞춤 플랜 설계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0208" y="3474720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553048" y="4023360"/>
            <a:ext cx="18820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253D"/>
                </a:solidFill>
              </a:rPr>
              <a:t>맞춤 플랜 설계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6553048" y="4709160"/>
            <a:ext cx="18820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273951"/>
                </a:solidFill>
              </a:rPr>
              <a:t>나이·예산·가족력에 맞는 플랜과 보험료를 제안합니다.</a:t>
            </a:r>
            <a:endParaRPr lang="en-US" sz="1300" dirty="0"/>
          </a:p>
        </p:txBody>
      </p:sp>
      <p:sp>
        <p:nvSpPr>
          <p:cNvPr id="23" name="단계 4 번호"/>
          <p:cNvSpPr/>
          <p:nvPr/>
        </p:nvSpPr>
        <p:spPr>
          <a:xfrm>
            <a:off x="9029471" y="2103120"/>
            <a:ext cx="566928" cy="566928"/>
          </a:xfrm>
          <a:prstGeom prst="ellipse">
            <a:avLst/>
          </a:prstGeom>
          <a:solidFill>
            <a:srgbClr val="1C1E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4" name="단계 4 카드"/>
          <p:cNvSpPr/>
          <p:nvPr/>
        </p:nvSpPr>
        <p:spPr>
          <a:xfrm>
            <a:off x="9029471" y="3017520"/>
            <a:ext cx="2522144" cy="2743200"/>
          </a:xfrm>
          <a:prstGeom prst="roundRect">
            <a:avLst>
              <a:gd name="adj" fmla="val 5076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50800" dist="12700" dir="5400000">
              <a:srgbClr val="003770">
                <a:alpha val="8000"/>
              </a:srgbClr>
            </a:outerShdw>
          </a:effectLst>
        </p:spPr>
      </p:sp>
      <p:sp>
        <p:nvSpPr>
          <p:cNvPr id="25" name="전자서명으로 가입 원"/>
          <p:cNvSpPr/>
          <p:nvPr/>
        </p:nvSpPr>
        <p:spPr>
          <a:xfrm>
            <a:off x="9349511" y="3337560"/>
            <a:ext cx="548640" cy="548640"/>
          </a:xfrm>
          <a:prstGeom prst="ellipse">
            <a:avLst/>
          </a:prstGeom>
          <a:solidFill>
            <a:srgbClr val="B9B9F9"/>
          </a:solidFill>
          <a:ln/>
        </p:spPr>
      </p:sp>
      <p:pic>
        <p:nvPicPr>
          <p:cNvPr id="26" name="전자서명으로 가입 아이콘" descr="전자서명으로 가입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671" y="3474720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349511" y="4023360"/>
            <a:ext cx="18820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253D"/>
                </a:solidFill>
              </a:rPr>
              <a:t>전자서명으로 가입</a:t>
            </a:r>
            <a:endParaRPr lang="en-US" sz="1800" dirty="0"/>
          </a:p>
        </p:txBody>
      </p:sp>
      <p:sp>
        <p:nvSpPr>
          <p:cNvPr id="28" name="Text 22"/>
          <p:cNvSpPr txBox="1"/>
          <p:nvPr/>
        </p:nvSpPr>
        <p:spPr>
          <a:xfrm>
            <a:off x="9349511" y="4709160"/>
            <a:ext cx="18820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273951"/>
                </a:solidFill>
              </a:rPr>
              <a:t>휴대폰으로 약 10분이면 가입이 끝납니다.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마무리 제목"/>
          <p:cNvSpPr txBox="1"/>
          <p:nvPr/>
        </p:nvSpPr>
        <p:spPr>
          <a:xfrm>
            <a:off x="640080" y="1554480"/>
            <a:ext cx="6858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spc="-80" kern="0" dirty="0">
                <a:solidFill>
                  <a:schemeClr val="bg1"/>
                </a:solidFill>
                <a:latin typeface="Malgun Gothic Semilight" pitchFamily="34" charset="0"/>
                <a:ea typeface="Malgun Gothic Semilight" pitchFamily="34" charset="-122"/>
                <a:cs typeface="Malgun Gothic Semilight" pitchFamily="34" charset="-120"/>
              </a:rPr>
              <a:t>보장은 미리,</a:t>
            </a:r>
            <a:endParaRPr lang="en-US" sz="4600" dirty="0"/>
          </a:p>
          <a:p>
            <a:pPr indent="0" marL="0">
              <a:buNone/>
            </a:pPr>
            <a:r>
              <a:rPr lang="en-US" sz="4600" spc="-80" kern="0" dirty="0">
                <a:solidFill>
                  <a:schemeClr val="bg1"/>
                </a:solidFill>
                <a:latin typeface="Malgun Gothic Semilight" pitchFamily="34" charset="0"/>
                <a:ea typeface="Malgun Gothic Semilight" pitchFamily="34" charset="-122"/>
                <a:cs typeface="Malgun Gothic Semilight" pitchFamily="34" charset="-120"/>
              </a:rPr>
              <a:t>걱정은 나중에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4290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CF0"/>
                </a:solidFill>
              </a:rPr>
              <a:t>지금 가입한 보험으로 충분한지, 무료 보장 분석으로 먼저 확인해 보세요.</a:t>
            </a:r>
            <a:endParaRPr lang="en-US" sz="1600" dirty="0"/>
          </a:p>
        </p:txBody>
      </p:sp>
      <p:sp>
        <p:nvSpPr>
          <p:cNvPr id="4" name="주 버튼"/>
          <p:cNvSpPr/>
          <p:nvPr/>
        </p:nvSpPr>
        <p:spPr>
          <a:xfrm>
            <a:off x="640080" y="4160520"/>
            <a:ext cx="2194560" cy="43891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rgbClr val="533AF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무료 보장 분석 신청</a:t>
            </a:r>
            <a:endParaRPr lang="en-US" sz="1400" dirty="0"/>
          </a:p>
        </p:txBody>
      </p:sp>
      <p:sp>
        <p:nvSpPr>
          <p:cNvPr id="5" name="연락처"/>
          <p:cNvSpPr txBox="1"/>
          <p:nvPr/>
        </p:nvSpPr>
        <p:spPr>
          <a:xfrm>
            <a:off x="3108960" y="416052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CF0"/>
                </a:solidFill>
              </a:rPr>
              <a:t>담당 설계사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홍길동</a:t>
            </a:r>
            <a:pPr indent="0" marL="0">
              <a:buNone/>
            </a:pPr>
            <a:r>
              <a:rPr lang="en-US" sz="1400" dirty="0">
                <a:solidFill>
                  <a:srgbClr val="C9CCF0"/>
                </a:solidFill>
              </a:rPr>
              <a:t>     연락처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010-0000-0000</a:t>
            </a:r>
            <a:endParaRPr lang="en-US" sz="1400" dirty="0"/>
          </a:p>
        </p:txBody>
      </p:sp>
      <p:sp>
        <p:nvSpPr>
          <p:cNvPr id="6" name="유의사항"/>
          <p:cNvSpPr txBox="1"/>
          <p:nvPr/>
        </p:nvSpPr>
        <p:spPr>
          <a:xfrm>
            <a:off x="640080" y="576072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A9DC8"/>
                </a:solidFill>
              </a:rPr>
              <a:t>※ 본 자료의 보험료·보장 금액은 이해를 돕기 위한 예시이며, 실제 가입 연령·성별·건강 상태·플랜에 따라 달라집니다. 가입 전 상품설명서와 약관을 반드시 확인하세요. 기존 계약을 해지하고 새 계약을 맺으면 보험료가 오르거나 보장이 제한될 수 있습니다.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ipe Inspired">
  <a:themeElements>
    <a:clrScheme name="Stripe Inspired">
      <a:dk1>
        <a:srgbClr val="0D253D"/>
      </a:dk1>
      <a:lt1>
        <a:srgbClr val="FFFFFF"/>
      </a:lt1>
      <a:dk2>
        <a:srgbClr val="1C1E54"/>
      </a:dk2>
      <a:lt2>
        <a:srgbClr val="F6F9FC"/>
      </a:lt2>
      <a:accent1>
        <a:srgbClr val="533AFD"/>
      </a:accent1>
      <a:accent2>
        <a:srgbClr val="665EFD"/>
      </a:accent2>
      <a:accent3>
        <a:srgbClr val="EA2261"/>
      </a:accent3>
      <a:accent4>
        <a:srgbClr val="B9B9F9"/>
      </a:accent4>
      <a:accent5>
        <a:srgbClr val="F5E9D4"/>
      </a:accent5>
      <a:accent6>
        <a:srgbClr val="64748D"/>
      </a:accent6>
      <a:hlink>
        <a:srgbClr val="533AFD"/>
      </a:hlink>
      <a:folHlink>
        <a:srgbClr val="4434D4"/>
      </a:folHlink>
    </a:clrScheme>
    <a:fontScheme name="Stripe Inspired">
      <a:majorFont>
        <a:latin typeface="Malgun Gothic Semi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든든 3대질병 건강보험 상품 안내</dc:title>
  <dc:subject>PptxGenJS Presentation</dc:subject>
  <dc:creator>PptxGenJS</dc:creator>
  <cp:lastModifiedBy>PptxGenJS</cp:lastModifiedBy>
  <cp:revision>1</cp:revision>
  <dcterms:created xsi:type="dcterms:W3CDTF">2026-10-25T00:56:45Z</dcterms:created>
  <dcterms:modified xsi:type="dcterms:W3CDTF">2026-10-25T00:56:45Z</dcterms:modified>
</cp:coreProperties>
</file>